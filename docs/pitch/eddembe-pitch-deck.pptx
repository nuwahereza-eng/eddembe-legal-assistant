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I’m Peter, and this is Eddembe. Eddembe means rights or freedom in Luganda. It helps ordinary Ugandans understand the law in their own language, using Gemma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Sarah. This story is common. LASPNET, the network of legal aid providers, says nearly 80 percent of Ugandans have no access to legal support. Afrobarometer found only about a third of people even know a legal aid service exists near them. And the laws are written in formal English, while most people think and speak in Luganda or another local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Eddembe puts a legal helper in Sarah’s pocket. Five things: she can scan the notice, speak her question in Luganda, switch the app’s language, get an answer that shows exactly which law it comes from, and get a letter ready to send. Gemma 4 powers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takes a photo of the notice. Gemma 4 reads the image itself, explains it in plain words, and flags the problems: only three days to leave, no date, no signature. Each red flag links to the related part of the law. Demo this live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won’t type a legal question in English. So Sarah just speaks Luganda. Sunbird AI transcribes her speech, and she sees the Luganda text on screen to confirm we heard her right. The answer comes back in Luganda, as text and audio. One tap switches the whole app between English and Luganda. Before pitching, replace the sample text with a real transcription from your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Eddembe trustworthy. Gemma 4 only answers from the law sections we retrieve, and every answer shows the law and section it came from. If the law doesn’t cover the question, Eddembe says so and points to legal aid. Then, with one tap, Sarah gets a polite, firm letter to her landlord that she can copy or download. The sections are real: section 38 sets 7 days’ notice for weekly and 30 days for monthly home tenancies and voids anything shorter, and section 45 bans eviction outside the Act. Make sure your live demo returns these same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Gemma integration is 30 percent of the score, so be specific here. Gemma 4 does three separate jobs. One: it reads the document photo directly as image input. Two: we retrieve the five closest law sections with pgvector, and Gemma 4 answers only from those sections and cites them. Three: it drafts the letter, again citing only retrieved sections. Its output is structured JSON that we validate. Before pitching, check each line matches your code. If you changed the number of sections retrieved or skipped JSON validation, update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Uganda’s 45.9 million people lives under these laws. 17.6 million smartphones are already in use, and that number keeps growing. We start with tenants, workers and land owners in Kampala and central Uganda, where Luganda is widely spoken, and we partner with legal aid providers who already serve them. Innovation and impact is 30 percent of the score. Stress what is new: Luganda first, grounded in real Ugandan law, with the source shown every time. Our year-one target is modest on purpose: 1,000 people through one pilot clinic and campus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Citizens never pay to know their rights. Money comes from the organisations that serve them. Legal aid clinics and NGOs pay a monthly fee for a branded intake page and a dashboard of cases already sorted by Eddembe. Users who want extra confidence can pay a small fee by mobile money for an advocate to check their letter, and we keep a commission. Grants and government awareness programmes fund the free tier. Say clearly that these prices are proposals we will test in the pilot, not prices anyone pays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Functionality is 20 percent of the score, so switch to the live app here. We built this in one Hack Day. Six Ugandan legal texts are indexed: the Constitution’s Bill of Rights chapter, the Landlord and Tenant Act, the Employment Act and its 2026 amendment, the Land Act, and the Access to Information Act. Run the four demo steps. If something fails live, go straight to the next step and keep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prove it works with one legal aid clinic in Kampala and have advocates check the answers. Next, we go where people already are: WhatsApp, which 9.2 million Ugandans use, and we add more Ugandan languages through Sunbird AI. We also add proof of filing on Stellar so citizens can prove when they sent an Access to Information request. Then we scale to Kenya and Tanzania in Swahili, and to offline use on cheap phones with on-device Gemma.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a final-year software engineering student at UTAMU, Technical Lead at GDG UTAMU and Vice President of the Innovation Club. I build AI and blockchain tools for governance in Uganda. To take Eddembe from a Hack Day prototype to real users, we need three things: legal aid partners to pilot with, advocates to review our answers, and support for AI and hosting costs. Thank you. Eddembe: know your rights, in your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9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F1F1F"/>
                </a:solidFill>
                <a:latin typeface="Roboto" pitchFamily="34" charset="0"/>
                <a:ea typeface="Roboto" pitchFamily="34" charset="-122"/>
                <a:cs typeface="Robot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F1F1F"/>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9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F1F1F"/>
                </a:solidFill>
                <a:latin typeface="Roboto" pitchFamily="34" charset="0"/>
                <a:ea typeface="Roboto" pitchFamily="34" charset="-122"/>
                <a:cs typeface="Robot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F1F1F"/>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p:bgPr>
    </p:bg>
    <p:spTree>
      <p:nvGrpSpPr>
        <p:cNvPr id="1" name=""/>
        <p:cNvGrpSpPr/>
        <p:nvPr/>
      </p:nvGrpSpPr>
      <p:grpSpPr>
        <a:xfrm>
          <a:off x="0" y="0"/>
          <a:ext cx="0" cy="0"/>
          <a:chOff x="0" y="0"/>
          <a:chExt cx="0" cy="0"/>
        </a:xfrm>
      </p:grpSpPr>
      <p:pic>
        <p:nvPicPr>
          <p:cNvPr id="2" name="Image 0" descr="Trust">    </p:cNvPr>
          <p:cNvPicPr>
            <a:picLocks noChangeAspect="1"/>
          </p:cNvPicPr>
          <p:nvPr/>
        </p:nvPicPr>
        <p:blipFill>
          <a:blip r:embed="rId1"/>
          <a:srcRect l="0" r="0" t="0" b="0"/>
          <a:stretch/>
        </p:blipFill>
        <p:spPr>
          <a:xfrm>
            <a:off x="8763000" y="2095500"/>
            <a:ext cx="2159000" cy="2159000"/>
          </a:xfrm>
          <a:prstGeom prst="rect">
            <a:avLst/>
          </a:prstGeom>
        </p:spPr>
      </p:pic>
      <p:sp>
        <p:nvSpPr>
          <p:cNvPr id="3" name="Text 0"/>
          <p:cNvSpPr/>
          <p:nvPr/>
        </p:nvSpPr>
        <p:spPr>
          <a:xfrm>
            <a:off x="812800" y="177419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D54F"/>
                </a:solidFill>
                <a:latin typeface="Roboto" pitchFamily="34" charset="0"/>
                <a:ea typeface="Roboto" pitchFamily="34" charset="-122"/>
                <a:cs typeface="Roboto" pitchFamily="34" charset="-120"/>
              </a:rPr>
              <a:t>HACKTOBERFEST 2026 HACK DAY · BUILT WITH GEMMA 4</a:t>
            </a:r>
            <a:endParaRPr lang="en-US" sz="1200" dirty="0"/>
          </a:p>
        </p:txBody>
      </p:sp>
      <p:sp>
        <p:nvSpPr>
          <p:cNvPr id="4" name="Text 1"/>
          <p:cNvSpPr/>
          <p:nvPr>
            <p:ph type="title"/>
          </p:nvPr>
        </p:nvSpPr>
        <p:spPr>
          <a:xfrm>
            <a:off x="812800" y="219075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8F9FA"/>
                </a:solidFill>
                <a:latin typeface="Roboto" pitchFamily="34" charset="0"/>
                <a:ea typeface="Roboto" pitchFamily="34" charset="-122"/>
                <a:cs typeface="Roboto" pitchFamily="34" charset="-120"/>
              </a:rPr>
              <a:t>Eddembe</a:t>
            </a:r>
            <a:endParaRPr lang="en-US" sz="8000" dirty="0"/>
          </a:p>
        </p:txBody>
      </p:sp>
      <p:sp>
        <p:nvSpPr>
          <p:cNvPr id="5" name="Text 2"/>
          <p:cNvSpPr/>
          <p:nvPr/>
        </p:nvSpPr>
        <p:spPr>
          <a:xfrm>
            <a:off x="812800" y="3409950"/>
            <a:ext cx="719455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8F9FA"/>
                </a:solidFill>
                <a:latin typeface="Roboto" pitchFamily="34" charset="0"/>
                <a:ea typeface="Roboto" pitchFamily="34" charset="-122"/>
                <a:cs typeface="Roboto" pitchFamily="34" charset="-120"/>
              </a:rPr>
              <a:t>Know your rights under Ugandan law, in your own language.</a:t>
            </a:r>
            <a:endParaRPr lang="en-US" sz="2200" dirty="0"/>
          </a:p>
        </p:txBody>
      </p:sp>
      <p:sp>
        <p:nvSpPr>
          <p:cNvPr id="6" name="Text 3"/>
          <p:cNvSpPr/>
          <p:nvPr/>
        </p:nvSpPr>
        <p:spPr>
          <a:xfrm>
            <a:off x="812800" y="4311650"/>
            <a:ext cx="693293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8E6C9"/>
                </a:solidFill>
                <a:latin typeface="Roboto" pitchFamily="34" charset="0"/>
                <a:ea typeface="Roboto" pitchFamily="34" charset="-122"/>
                <a:cs typeface="Roboto" pitchFamily="34" charset="-120"/>
              </a:rPr>
              <a:t>Snap a document. Ask in Luganda. Get the law, with the exact section, and a letter ready to send.</a:t>
            </a:r>
            <a:endParaRPr lang="en-US" sz="1600" dirty="0"/>
          </a:p>
        </p:txBody>
      </p:sp>
      <p:sp>
        <p:nvSpPr>
          <p:cNvPr id="7" name="Text 4"/>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6C9"/>
                </a:solidFill>
                <a:latin typeface="Roboto" pitchFamily="34" charset="0"/>
                <a:ea typeface="Roboto" pitchFamily="34" charset="-122"/>
                <a:cs typeface="Roboto" pitchFamily="34" charset="-120"/>
              </a:rPr>
              <a:t>Nuwahereza Peter · Softcodes Ltd · Uganda Technology and Management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THE PROBLEM</a:t>
            </a:r>
            <a:endParaRPr lang="en-US" sz="1200" dirty="0"/>
          </a:p>
        </p:txBody>
      </p:sp>
      <p:sp>
        <p:nvSpPr>
          <p:cNvPr id="3" name="Text 1"/>
          <p:cNvSpPr/>
          <p:nvPr>
            <p:ph type="title"/>
          </p:nvPr>
        </p:nvSpPr>
        <p:spPr>
          <a:xfrm>
            <a:off x="812800" y="110236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Most Ugandans face the law alone, in a language they don’t read</a:t>
            </a:r>
            <a:endParaRPr lang="en-US" sz="3200" dirty="0"/>
          </a:p>
        </p:txBody>
      </p:sp>
      <p:sp>
        <p:nvSpPr>
          <p:cNvPr id="4" name="Text 2"/>
          <p:cNvSpPr/>
          <p:nvPr/>
        </p:nvSpPr>
        <p:spPr>
          <a:xfrm>
            <a:off x="812800" y="2291080"/>
            <a:ext cx="10566400" cy="975360"/>
          </a:xfrm>
          <a:prstGeom prst="roundRect">
            <a:avLst>
              <a:gd name="adj" fmla="val 10417"/>
            </a:avLst>
          </a:prstGeom>
          <a:solidFill>
            <a:srgbClr val="FFFFFF"/>
          </a:solidFill>
          <a:ln/>
        </p:spPr>
        <p:txBody>
          <a:bodyPr wrap="square" lIns="275042" tIns="173442" rIns="0" bIns="148042" rtlCol="0" anchor="t">
            <a:normAutofit/>
          </a:bodyPr>
          <a:lstStyle/>
          <a:p>
            <a:pPr algn="l" indent="0" marL="0">
              <a:lnSpc>
                <a:spcPts val="2240"/>
              </a:lnSpc>
              <a:buNone/>
            </a:pPr>
            <a:r>
              <a:rPr lang="en-US" sz="1600" dirty="0">
                <a:solidFill>
                  <a:srgbClr val="1F1F1F"/>
                </a:solidFill>
                <a:latin typeface="Roboto" pitchFamily="34" charset="0"/>
                <a:ea typeface="Roboto" pitchFamily="34" charset="-122"/>
                <a:cs typeface="Roboto" pitchFamily="34" charset="-120"/>
              </a:rPr>
              <a:t>Sarah rents a room in Kampala. A note under her door says: leave in three days. Is that legal? She can’t afford a lawyer, the nearest legal aid office is far away, and the law is written in formal English.</a:t>
            </a:r>
            <a:endParaRPr lang="en-US" sz="1600" dirty="0"/>
          </a:p>
        </p:txBody>
      </p:sp>
      <p:sp>
        <p:nvSpPr>
          <p:cNvPr id="5" name="Shape 3"/>
          <p:cNvSpPr/>
          <p:nvPr/>
        </p:nvSpPr>
        <p:spPr>
          <a:xfrm>
            <a:off x="812800" y="2291080"/>
            <a:ext cx="10566400" cy="975360"/>
          </a:xfrm>
          <a:custGeom>
            <a:avLst/>
            <a:gdLst/>
            <a:ahLst/>
            <a:cxnLst/>
            <a:rect l="l" t="t" r="r" b="b"/>
            <a:pathLst>
              <a:path w="10566400" h="975360">
                <a:moveTo>
                  <a:pt x="101600" y="975360"/>
                </a:moveTo>
                <a:lnTo>
                  <a:pt x="101600" y="975360"/>
                </a:lnTo>
                <a:arcTo hR="101600" wR="101600" stAng="5400000" swAng="5400000"/>
                <a:lnTo>
                  <a:pt x="0" y="101600"/>
                </a:lnTo>
                <a:arcTo hR="101600" wR="101600" stAng="10800000" swAng="5400000"/>
                <a:lnTo>
                  <a:pt x="101600" y="0"/>
                </a:lnTo>
                <a:arcTo hR="101600" wR="50800" stAng="16200000" swAng="-5400000"/>
                <a:lnTo>
                  <a:pt x="50800" y="873760"/>
                </a:lnTo>
                <a:arcTo hR="101600" wR="50800" stAng="10800000" swAng="-5400000"/>
                <a:close/>
              </a:path>
            </a:pathLst>
          </a:custGeom>
          <a:solidFill>
            <a:srgbClr val="F9A825"/>
          </a:solidFill>
          <a:ln/>
        </p:spPr>
      </p:sp>
      <p:sp>
        <p:nvSpPr>
          <p:cNvPr id="6" name="Shape 4"/>
          <p:cNvSpPr/>
          <p:nvPr/>
        </p:nvSpPr>
        <p:spPr>
          <a:xfrm>
            <a:off x="815975" y="3523615"/>
            <a:ext cx="3414157" cy="1499870"/>
          </a:xfrm>
          <a:prstGeom prst="roundRect">
            <a:avLst>
              <a:gd name="adj" fmla="val 6562"/>
            </a:avLst>
          </a:prstGeom>
          <a:solidFill>
            <a:srgbClr val="FFFFFF"/>
          </a:solidFill>
          <a:ln w="6350">
            <a:solidFill>
              <a:srgbClr val="E0E0E0"/>
            </a:solidFill>
            <a:prstDash val="solid"/>
          </a:ln>
        </p:spPr>
      </p:sp>
      <p:sp>
        <p:nvSpPr>
          <p:cNvPr id="7" name="Text 5"/>
          <p:cNvSpPr/>
          <p:nvPr/>
        </p:nvSpPr>
        <p:spPr>
          <a:xfrm>
            <a:off x="1071880" y="3728720"/>
            <a:ext cx="298941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B5E20"/>
                </a:solidFill>
                <a:latin typeface="Roboto" pitchFamily="34" charset="0"/>
                <a:ea typeface="Roboto" pitchFamily="34" charset="-122"/>
                <a:cs typeface="Roboto" pitchFamily="34" charset="-120"/>
              </a:rPr>
              <a:t>~80%</a:t>
            </a:r>
            <a:endParaRPr lang="en-US" sz="4400" dirty="0"/>
          </a:p>
        </p:txBody>
      </p:sp>
      <p:sp>
        <p:nvSpPr>
          <p:cNvPr id="8" name="Text 6"/>
          <p:cNvSpPr/>
          <p:nvPr/>
        </p:nvSpPr>
        <p:spPr>
          <a:xfrm>
            <a:off x="1071880" y="4338320"/>
            <a:ext cx="298941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F6368"/>
                </a:solidFill>
                <a:latin typeface="Roboto" pitchFamily="34" charset="0"/>
                <a:ea typeface="Roboto" pitchFamily="34" charset="-122"/>
                <a:cs typeface="Roboto" pitchFamily="34" charset="-120"/>
              </a:rPr>
              <a:t>of Ugandans have no access to legal support</a:t>
            </a:r>
            <a:endParaRPr lang="en-US" sz="1400" dirty="0"/>
          </a:p>
        </p:txBody>
      </p:sp>
      <p:sp>
        <p:nvSpPr>
          <p:cNvPr id="9" name="Shape 7"/>
          <p:cNvSpPr/>
          <p:nvPr/>
        </p:nvSpPr>
        <p:spPr>
          <a:xfrm>
            <a:off x="4388882" y="3523615"/>
            <a:ext cx="3414236" cy="1499870"/>
          </a:xfrm>
          <a:prstGeom prst="roundRect">
            <a:avLst>
              <a:gd name="adj" fmla="val 6562"/>
            </a:avLst>
          </a:prstGeom>
          <a:solidFill>
            <a:srgbClr val="FFFFFF"/>
          </a:solidFill>
          <a:ln w="6350">
            <a:solidFill>
              <a:srgbClr val="E0E0E0"/>
            </a:solidFill>
            <a:prstDash val="solid"/>
          </a:ln>
        </p:spPr>
      </p:sp>
      <p:sp>
        <p:nvSpPr>
          <p:cNvPr id="10" name="Text 8"/>
          <p:cNvSpPr/>
          <p:nvPr/>
        </p:nvSpPr>
        <p:spPr>
          <a:xfrm>
            <a:off x="4644787" y="3728720"/>
            <a:ext cx="298949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B5E20"/>
                </a:solidFill>
                <a:latin typeface="Roboto" pitchFamily="34" charset="0"/>
                <a:ea typeface="Roboto" pitchFamily="34" charset="-122"/>
                <a:cs typeface="Roboto" pitchFamily="34" charset="-120"/>
              </a:rPr>
              <a:t>34%</a:t>
            </a:r>
            <a:endParaRPr lang="en-US" sz="4400" dirty="0"/>
          </a:p>
        </p:txBody>
      </p:sp>
      <p:sp>
        <p:nvSpPr>
          <p:cNvPr id="11" name="Text 9"/>
          <p:cNvSpPr/>
          <p:nvPr/>
        </p:nvSpPr>
        <p:spPr>
          <a:xfrm>
            <a:off x="4644787" y="4338320"/>
            <a:ext cx="2989499"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F6368"/>
                </a:solidFill>
                <a:latin typeface="Roboto" pitchFamily="34" charset="0"/>
                <a:ea typeface="Roboto" pitchFamily="34" charset="-122"/>
                <a:cs typeface="Roboto" pitchFamily="34" charset="-120"/>
              </a:rPr>
              <a:t>know of any legal aid service in their community</a:t>
            </a:r>
            <a:endParaRPr lang="en-US" sz="1400" dirty="0"/>
          </a:p>
        </p:txBody>
      </p:sp>
      <p:sp>
        <p:nvSpPr>
          <p:cNvPr id="12" name="Shape 10"/>
          <p:cNvSpPr/>
          <p:nvPr/>
        </p:nvSpPr>
        <p:spPr>
          <a:xfrm>
            <a:off x="7961868" y="3523615"/>
            <a:ext cx="3414157" cy="1499870"/>
          </a:xfrm>
          <a:prstGeom prst="roundRect">
            <a:avLst>
              <a:gd name="adj" fmla="val 6562"/>
            </a:avLst>
          </a:prstGeom>
          <a:solidFill>
            <a:srgbClr val="FFFFFF"/>
          </a:solidFill>
          <a:ln w="6350">
            <a:solidFill>
              <a:srgbClr val="E0E0E0"/>
            </a:solidFill>
            <a:prstDash val="solid"/>
          </a:ln>
        </p:spPr>
      </p:sp>
      <p:sp>
        <p:nvSpPr>
          <p:cNvPr id="13" name="Text 11"/>
          <p:cNvSpPr/>
          <p:nvPr/>
        </p:nvSpPr>
        <p:spPr>
          <a:xfrm>
            <a:off x="8217774" y="3728720"/>
            <a:ext cx="298941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B5E20"/>
                </a:solidFill>
                <a:latin typeface="Roboto" pitchFamily="34" charset="0"/>
                <a:ea typeface="Roboto" pitchFamily="34" charset="-122"/>
                <a:cs typeface="Roboto" pitchFamily="34" charset="-120"/>
              </a:rPr>
              <a:t>10%</a:t>
            </a:r>
            <a:endParaRPr lang="en-US" sz="4400" dirty="0"/>
          </a:p>
        </p:txBody>
      </p:sp>
      <p:sp>
        <p:nvSpPr>
          <p:cNvPr id="14" name="Text 12"/>
          <p:cNvSpPr/>
          <p:nvPr/>
        </p:nvSpPr>
        <p:spPr>
          <a:xfrm>
            <a:off x="8217774" y="4338320"/>
            <a:ext cx="298941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F6368"/>
                </a:solidFill>
                <a:latin typeface="Roboto" pitchFamily="34" charset="0"/>
                <a:ea typeface="Roboto" pitchFamily="34" charset="-122"/>
                <a:cs typeface="Roboto" pitchFamily="34" charset="-120"/>
              </a:rPr>
              <a:t>can easily access justice</a:t>
            </a:r>
            <a:endParaRPr lang="en-US" sz="1400" dirty="0"/>
          </a:p>
        </p:txBody>
      </p:sp>
      <p:sp>
        <p:nvSpPr>
          <p:cNvPr id="15" name="Text 13"/>
          <p:cNvSpPr/>
          <p:nvPr/>
        </p:nvSpPr>
        <p:spPr>
          <a:xfrm>
            <a:off x="812800" y="6238241"/>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Sources: LASPNET via Daily Monitor, Nov 2025 · Afrobarometer Round 10, 2024 · Uganda Law Society via JLOS</a:t>
            </a:r>
            <a:endParaRPr lang="en-US" sz="1200" dirty="0"/>
          </a:p>
        </p:txBody>
      </p:sp>
      <p:sp>
        <p:nvSpPr>
          <p:cNvPr id="16" name="Text 14"/>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THE SOLUTION</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A legal helper that speaks Luganda</a:t>
            </a:r>
            <a:endParaRPr lang="en-US" sz="3200" dirty="0"/>
          </a:p>
        </p:txBody>
      </p:sp>
      <p:sp>
        <p:nvSpPr>
          <p:cNvPr id="4" name="Shape 2"/>
          <p:cNvSpPr/>
          <p:nvPr/>
        </p:nvSpPr>
        <p:spPr>
          <a:xfrm>
            <a:off x="815975" y="1826895"/>
            <a:ext cx="3414157" cy="1537970"/>
          </a:xfrm>
          <a:prstGeom prst="roundRect">
            <a:avLst>
              <a:gd name="adj" fmla="val 6400"/>
            </a:avLst>
          </a:prstGeom>
          <a:solidFill>
            <a:srgbClr val="FFFFFF"/>
          </a:solidFill>
          <a:ln w="6350">
            <a:solidFill>
              <a:srgbClr val="E0E0E0"/>
            </a:solidFill>
            <a:prstDash val="solid"/>
          </a:ln>
        </p:spPr>
      </p:sp>
      <p:pic>
        <p:nvPicPr>
          <p:cNvPr id="5" name="Image 0" descr="Search">    </p:cNvPr>
          <p:cNvPicPr>
            <a:picLocks noChangeAspect="1"/>
          </p:cNvPicPr>
          <p:nvPr/>
        </p:nvPicPr>
        <p:blipFill>
          <a:blip r:embed="rId1"/>
          <a:srcRect l="0" r="0" t="0" b="0"/>
          <a:stretch/>
        </p:blipFill>
        <p:spPr>
          <a:xfrm>
            <a:off x="1021080" y="2032000"/>
            <a:ext cx="304800" cy="304800"/>
          </a:xfrm>
          <a:prstGeom prst="rect">
            <a:avLst/>
          </a:prstGeom>
        </p:spPr>
      </p:pic>
      <p:sp>
        <p:nvSpPr>
          <p:cNvPr id="6" name="Text 3"/>
          <p:cNvSpPr/>
          <p:nvPr/>
        </p:nvSpPr>
        <p:spPr>
          <a:xfrm>
            <a:off x="1021080" y="241300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F1F"/>
                </a:solidFill>
                <a:latin typeface="Roboto" pitchFamily="34" charset="0"/>
                <a:ea typeface="Roboto" pitchFamily="34" charset="-122"/>
                <a:cs typeface="Roboto" pitchFamily="34" charset="-120"/>
              </a:rPr>
              <a:t>Scan or upload</a:t>
            </a:r>
            <a:endParaRPr lang="en-US" sz="1600" dirty="0"/>
          </a:p>
        </p:txBody>
      </p:sp>
      <p:sp>
        <p:nvSpPr>
          <p:cNvPr id="7" name="Text 4"/>
          <p:cNvSpPr/>
          <p:nvPr/>
        </p:nvSpPr>
        <p:spPr>
          <a:xfrm>
            <a:off x="1021080" y="273304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Photograph any notice, contract or agreement. See the red flags in plain words.</a:t>
            </a:r>
            <a:endParaRPr lang="en-US" sz="1200" dirty="0"/>
          </a:p>
        </p:txBody>
      </p:sp>
      <p:sp>
        <p:nvSpPr>
          <p:cNvPr id="8" name="Shape 5"/>
          <p:cNvSpPr/>
          <p:nvPr/>
        </p:nvSpPr>
        <p:spPr>
          <a:xfrm>
            <a:off x="4388882" y="1826895"/>
            <a:ext cx="3414157" cy="1537970"/>
          </a:xfrm>
          <a:prstGeom prst="roundRect">
            <a:avLst>
              <a:gd name="adj" fmla="val 6400"/>
            </a:avLst>
          </a:prstGeom>
          <a:solidFill>
            <a:srgbClr val="FFFFFF"/>
          </a:solidFill>
          <a:ln w="6350">
            <a:solidFill>
              <a:srgbClr val="E0E0E0"/>
            </a:solidFill>
            <a:prstDash val="solid"/>
          </a:ln>
        </p:spPr>
      </p:sp>
      <p:pic>
        <p:nvPicPr>
          <p:cNvPr id="9" name="Image 1" descr="Chat">    </p:cNvPr>
          <p:cNvPicPr>
            <a:picLocks noChangeAspect="1"/>
          </p:cNvPicPr>
          <p:nvPr/>
        </p:nvPicPr>
        <p:blipFill>
          <a:blip r:embed="rId2"/>
          <a:srcRect l="0" r="0" t="0" b="0"/>
          <a:stretch/>
        </p:blipFill>
        <p:spPr>
          <a:xfrm>
            <a:off x="4593987" y="2032000"/>
            <a:ext cx="304800" cy="304800"/>
          </a:xfrm>
          <a:prstGeom prst="rect">
            <a:avLst/>
          </a:prstGeom>
        </p:spPr>
      </p:pic>
      <p:sp>
        <p:nvSpPr>
          <p:cNvPr id="10" name="Text 6"/>
          <p:cNvSpPr/>
          <p:nvPr/>
        </p:nvSpPr>
        <p:spPr>
          <a:xfrm>
            <a:off x="4593987" y="241300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F1F"/>
                </a:solidFill>
                <a:latin typeface="Roboto" pitchFamily="34" charset="0"/>
                <a:ea typeface="Roboto" pitchFamily="34" charset="-122"/>
                <a:cs typeface="Roboto" pitchFamily="34" charset="-120"/>
              </a:rPr>
              <a:t>Speak Luganda</a:t>
            </a:r>
            <a:endParaRPr lang="en-US" sz="1600" dirty="0"/>
          </a:p>
        </p:txBody>
      </p:sp>
      <p:sp>
        <p:nvSpPr>
          <p:cNvPr id="11" name="Text 7"/>
          <p:cNvSpPr/>
          <p:nvPr/>
        </p:nvSpPr>
        <p:spPr>
          <a:xfrm>
            <a:off x="4593987" y="273304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Ask by voice. We show the Luganda transcription and answer back in Luganda.</a:t>
            </a:r>
            <a:endParaRPr lang="en-US" sz="1200" dirty="0"/>
          </a:p>
        </p:txBody>
      </p:sp>
      <p:sp>
        <p:nvSpPr>
          <p:cNvPr id="12" name="Shape 8"/>
          <p:cNvSpPr/>
          <p:nvPr/>
        </p:nvSpPr>
        <p:spPr>
          <a:xfrm>
            <a:off x="7961789" y="1826895"/>
            <a:ext cx="3414157" cy="1537970"/>
          </a:xfrm>
          <a:prstGeom prst="roundRect">
            <a:avLst>
              <a:gd name="adj" fmla="val 6400"/>
            </a:avLst>
          </a:prstGeom>
          <a:solidFill>
            <a:srgbClr val="FFFFFF"/>
          </a:solidFill>
          <a:ln w="6350">
            <a:solidFill>
              <a:srgbClr val="E0E0E0"/>
            </a:solidFill>
            <a:prstDash val="solid"/>
          </a:ln>
        </p:spPr>
      </p:sp>
      <p:pic>
        <p:nvPicPr>
          <p:cNvPr id="13" name="Image 2" descr="Globe">    </p:cNvPr>
          <p:cNvPicPr>
            <a:picLocks noChangeAspect="1"/>
          </p:cNvPicPr>
          <p:nvPr/>
        </p:nvPicPr>
        <p:blipFill>
          <a:blip r:embed="rId3"/>
          <a:srcRect l="0" r="0" t="0" b="0"/>
          <a:stretch/>
        </p:blipFill>
        <p:spPr>
          <a:xfrm>
            <a:off x="8166894" y="2032000"/>
            <a:ext cx="304800" cy="304800"/>
          </a:xfrm>
          <a:prstGeom prst="rect">
            <a:avLst/>
          </a:prstGeom>
        </p:spPr>
      </p:pic>
      <p:sp>
        <p:nvSpPr>
          <p:cNvPr id="14" name="Text 9"/>
          <p:cNvSpPr/>
          <p:nvPr/>
        </p:nvSpPr>
        <p:spPr>
          <a:xfrm>
            <a:off x="8166894" y="241300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F1F"/>
                </a:solidFill>
                <a:latin typeface="Roboto" pitchFamily="34" charset="0"/>
                <a:ea typeface="Roboto" pitchFamily="34" charset="-122"/>
                <a:cs typeface="Roboto" pitchFamily="34" charset="-120"/>
              </a:rPr>
              <a:t>Switch language</a:t>
            </a:r>
            <a:endParaRPr lang="en-US" sz="1600" dirty="0"/>
          </a:p>
        </p:txBody>
      </p:sp>
      <p:sp>
        <p:nvSpPr>
          <p:cNvPr id="15" name="Text 10"/>
          <p:cNvSpPr/>
          <p:nvPr/>
        </p:nvSpPr>
        <p:spPr>
          <a:xfrm>
            <a:off x="8166894" y="273304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One tap moves the whole app between English and Luganda.</a:t>
            </a:r>
            <a:endParaRPr lang="en-US" sz="1200" dirty="0"/>
          </a:p>
        </p:txBody>
      </p:sp>
      <p:sp>
        <p:nvSpPr>
          <p:cNvPr id="16" name="Shape 11"/>
          <p:cNvSpPr/>
          <p:nvPr/>
        </p:nvSpPr>
        <p:spPr>
          <a:xfrm>
            <a:off x="815975" y="3523616"/>
            <a:ext cx="3414157" cy="1537970"/>
          </a:xfrm>
          <a:prstGeom prst="roundRect">
            <a:avLst>
              <a:gd name="adj" fmla="val 6400"/>
            </a:avLst>
          </a:prstGeom>
          <a:solidFill>
            <a:srgbClr val="FFFFFF"/>
          </a:solidFill>
          <a:ln w="6350">
            <a:solidFill>
              <a:srgbClr val="E0E0E0"/>
            </a:solidFill>
            <a:prstDash val="solid"/>
          </a:ln>
        </p:spPr>
      </p:sp>
      <p:pic>
        <p:nvPicPr>
          <p:cNvPr id="17" name="Image 3" descr="Book">    </p:cNvPr>
          <p:cNvPicPr>
            <a:picLocks noChangeAspect="1"/>
          </p:cNvPicPr>
          <p:nvPr/>
        </p:nvPicPr>
        <p:blipFill>
          <a:blip r:embed="rId4"/>
          <a:srcRect l="0" r="0" t="0" b="0"/>
          <a:stretch/>
        </p:blipFill>
        <p:spPr>
          <a:xfrm>
            <a:off x="1021080" y="3728720"/>
            <a:ext cx="304800" cy="304800"/>
          </a:xfrm>
          <a:prstGeom prst="rect">
            <a:avLst/>
          </a:prstGeom>
        </p:spPr>
      </p:pic>
      <p:sp>
        <p:nvSpPr>
          <p:cNvPr id="18" name="Text 12"/>
          <p:cNvSpPr/>
          <p:nvPr/>
        </p:nvSpPr>
        <p:spPr>
          <a:xfrm>
            <a:off x="1021080" y="410972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F1F"/>
                </a:solidFill>
                <a:latin typeface="Roboto" pitchFamily="34" charset="0"/>
                <a:ea typeface="Roboto" pitchFamily="34" charset="-122"/>
                <a:cs typeface="Roboto" pitchFamily="34" charset="-120"/>
              </a:rPr>
              <a:t>Answers with references</a:t>
            </a:r>
            <a:endParaRPr lang="en-US" sz="1600" dirty="0"/>
          </a:p>
        </p:txBody>
      </p:sp>
      <p:sp>
        <p:nvSpPr>
          <p:cNvPr id="19" name="Text 13"/>
          <p:cNvSpPr/>
          <p:nvPr/>
        </p:nvSpPr>
        <p:spPr>
          <a:xfrm>
            <a:off x="1021080" y="44297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Every answer names the law and the section it comes from.</a:t>
            </a:r>
            <a:endParaRPr lang="en-US" sz="1200" dirty="0"/>
          </a:p>
        </p:txBody>
      </p:sp>
      <p:sp>
        <p:nvSpPr>
          <p:cNvPr id="20" name="Shape 14"/>
          <p:cNvSpPr/>
          <p:nvPr/>
        </p:nvSpPr>
        <p:spPr>
          <a:xfrm>
            <a:off x="4388882" y="3523616"/>
            <a:ext cx="3414157" cy="1537970"/>
          </a:xfrm>
          <a:prstGeom prst="roundRect">
            <a:avLst>
              <a:gd name="adj" fmla="val 6400"/>
            </a:avLst>
          </a:prstGeom>
          <a:solidFill>
            <a:srgbClr val="FFFFFF"/>
          </a:solidFill>
          <a:ln w="6350">
            <a:solidFill>
              <a:srgbClr val="E0E0E0"/>
            </a:solidFill>
            <a:prstDash val="solid"/>
          </a:ln>
        </p:spPr>
      </p:sp>
      <p:pic>
        <p:nvPicPr>
          <p:cNvPr id="21" name="Image 4" descr="PaperPlane">    </p:cNvPr>
          <p:cNvPicPr>
            <a:picLocks noChangeAspect="1"/>
          </p:cNvPicPr>
          <p:nvPr/>
        </p:nvPicPr>
        <p:blipFill>
          <a:blip r:embed="rId5"/>
          <a:srcRect l="0" r="0" t="0" b="0"/>
          <a:stretch/>
        </p:blipFill>
        <p:spPr>
          <a:xfrm>
            <a:off x="4593987" y="3728720"/>
            <a:ext cx="304800" cy="304800"/>
          </a:xfrm>
          <a:prstGeom prst="rect">
            <a:avLst/>
          </a:prstGeom>
        </p:spPr>
      </p:pic>
      <p:sp>
        <p:nvSpPr>
          <p:cNvPr id="22" name="Text 15"/>
          <p:cNvSpPr/>
          <p:nvPr/>
        </p:nvSpPr>
        <p:spPr>
          <a:xfrm>
            <a:off x="4593987" y="410972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F1F"/>
                </a:solidFill>
                <a:latin typeface="Roboto" pitchFamily="34" charset="0"/>
                <a:ea typeface="Roboto" pitchFamily="34" charset="-122"/>
                <a:cs typeface="Roboto" pitchFamily="34" charset="-120"/>
              </a:rPr>
              <a:t>Letters ready to send</a:t>
            </a:r>
            <a:endParaRPr lang="en-US" sz="1600" dirty="0"/>
          </a:p>
        </p:txBody>
      </p:sp>
      <p:sp>
        <p:nvSpPr>
          <p:cNvPr id="23" name="Text 16"/>
          <p:cNvSpPr/>
          <p:nvPr/>
        </p:nvSpPr>
        <p:spPr>
          <a:xfrm>
            <a:off x="4593987" y="44297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Reply to a landlord, complain to an employer, or request public information.</a:t>
            </a:r>
            <a:endParaRPr lang="en-US" sz="1200" dirty="0"/>
          </a:p>
        </p:txBody>
      </p:sp>
      <p:sp>
        <p:nvSpPr>
          <p:cNvPr id="24" name="Shape 17"/>
          <p:cNvSpPr/>
          <p:nvPr/>
        </p:nvSpPr>
        <p:spPr>
          <a:xfrm>
            <a:off x="7958614" y="3520441"/>
            <a:ext cx="3420507" cy="1544320"/>
          </a:xfrm>
          <a:prstGeom prst="roundRect">
            <a:avLst>
              <a:gd name="adj" fmla="val 6579"/>
            </a:avLst>
          </a:prstGeom>
          <a:solidFill>
            <a:srgbClr val="1B5E20"/>
          </a:solidFill>
          <a:ln/>
        </p:spPr>
      </p:sp>
      <p:pic>
        <p:nvPicPr>
          <p:cNvPr id="25" name="Image 5" descr="Lightning">    </p:cNvPr>
          <p:cNvPicPr>
            <a:picLocks noChangeAspect="1"/>
          </p:cNvPicPr>
          <p:nvPr/>
        </p:nvPicPr>
        <p:blipFill>
          <a:blip r:embed="rId6"/>
          <a:srcRect l="0" r="0" t="0" b="0"/>
          <a:stretch/>
        </p:blipFill>
        <p:spPr>
          <a:xfrm>
            <a:off x="8161814" y="3723641"/>
            <a:ext cx="304800" cy="304800"/>
          </a:xfrm>
          <a:prstGeom prst="rect">
            <a:avLst/>
          </a:prstGeom>
        </p:spPr>
      </p:pic>
      <p:sp>
        <p:nvSpPr>
          <p:cNvPr id="26" name="Text 18"/>
          <p:cNvSpPr/>
          <p:nvPr/>
        </p:nvSpPr>
        <p:spPr>
          <a:xfrm>
            <a:off x="8161814" y="4104641"/>
            <a:ext cx="310453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9FA"/>
                </a:solidFill>
                <a:latin typeface="Roboto" pitchFamily="34" charset="0"/>
                <a:ea typeface="Roboto" pitchFamily="34" charset="-122"/>
                <a:cs typeface="Roboto" pitchFamily="34" charset="-120"/>
              </a:rPr>
              <a:t>Powered by Gemma 4</a:t>
            </a:r>
            <a:endParaRPr lang="en-US" sz="1600" dirty="0"/>
          </a:p>
        </p:txBody>
      </p:sp>
      <p:sp>
        <p:nvSpPr>
          <p:cNvPr id="27" name="Text 19"/>
          <p:cNvSpPr/>
          <p:nvPr/>
        </p:nvSpPr>
        <p:spPr>
          <a:xfrm>
            <a:off x="8161814" y="4424680"/>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6C9"/>
                </a:solidFill>
                <a:latin typeface="Roboto" pitchFamily="34" charset="0"/>
                <a:ea typeface="Roboto" pitchFamily="34" charset="-122"/>
                <a:cs typeface="Roboto" pitchFamily="34" charset="-120"/>
              </a:rPr>
              <a:t>Reads images, reasons over Ugandan law and drafts letters.</a:t>
            </a:r>
            <a:endParaRPr lang="en-US" sz="1200" dirty="0"/>
          </a:p>
        </p:txBody>
      </p:sp>
      <p:sp>
        <p:nvSpPr>
          <p:cNvPr id="28" name="Text 20"/>
          <p:cNvSpPr/>
          <p:nvPr/>
        </p:nvSpPr>
        <p:spPr>
          <a:xfrm>
            <a:off x="812800" y="6238241"/>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Eddembe gives legal information, not legal advice.</a:t>
            </a:r>
            <a:endParaRPr lang="en-US" sz="1200" dirty="0"/>
          </a:p>
        </p:txBody>
      </p:sp>
      <p:sp>
        <p:nvSpPr>
          <p:cNvPr id="29" name="Text 21"/>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FEATURE 1 · SCAN OR UPLOAD</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Snap a document. See the red flags.</a:t>
            </a:r>
            <a:endParaRPr lang="en-US" sz="3200" dirty="0"/>
          </a:p>
        </p:txBody>
      </p:sp>
      <p:sp>
        <p:nvSpPr>
          <p:cNvPr id="4" name="Shape 2"/>
          <p:cNvSpPr/>
          <p:nvPr/>
        </p:nvSpPr>
        <p:spPr>
          <a:xfrm>
            <a:off x="844550" y="1855470"/>
            <a:ext cx="2984500" cy="3670300"/>
          </a:xfrm>
          <a:prstGeom prst="roundRect">
            <a:avLst>
              <a:gd name="adj" fmla="val 9149"/>
            </a:avLst>
          </a:prstGeom>
          <a:solidFill>
            <a:srgbClr val="F1F3F4"/>
          </a:solidFill>
          <a:ln w="63500">
            <a:solidFill>
              <a:srgbClr val="1F1F1F"/>
            </a:solidFill>
            <a:prstDash val="solid"/>
          </a:ln>
        </p:spPr>
      </p:sp>
      <p:sp>
        <p:nvSpPr>
          <p:cNvPr id="5" name="Text 3"/>
          <p:cNvSpPr/>
          <p:nvPr/>
        </p:nvSpPr>
        <p:spPr>
          <a:xfrm>
            <a:off x="1026160" y="2037080"/>
            <a:ext cx="269991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F1F"/>
                </a:solidFill>
                <a:latin typeface="Roboto" pitchFamily="34" charset="0"/>
                <a:ea typeface="Roboto" pitchFamily="34" charset="-122"/>
                <a:cs typeface="Roboto" pitchFamily="34" charset="-120"/>
              </a:rPr>
              <a:t>Scan a document</a:t>
            </a:r>
            <a:endParaRPr lang="en-US" sz="1300" dirty="0"/>
          </a:p>
        </p:txBody>
      </p:sp>
      <p:sp>
        <p:nvSpPr>
          <p:cNvPr id="6" name="Shape 4"/>
          <p:cNvSpPr/>
          <p:nvPr/>
        </p:nvSpPr>
        <p:spPr>
          <a:xfrm>
            <a:off x="1029335" y="2347595"/>
            <a:ext cx="2614930" cy="798830"/>
          </a:xfrm>
          <a:prstGeom prst="roundRect">
            <a:avLst>
              <a:gd name="adj" fmla="val 12321"/>
            </a:avLst>
          </a:prstGeom>
          <a:solidFill>
            <a:srgbClr val="FFFFFF"/>
          </a:solidFill>
          <a:ln w="6350">
            <a:solidFill>
              <a:srgbClr val="E0E0E0"/>
            </a:solidFill>
            <a:prstDash val="solid"/>
          </a:ln>
        </p:spPr>
      </p:sp>
      <p:sp>
        <p:nvSpPr>
          <p:cNvPr id="7" name="Text 5"/>
          <p:cNvSpPr/>
          <p:nvPr/>
        </p:nvSpPr>
        <p:spPr>
          <a:xfrm>
            <a:off x="1158240" y="2476500"/>
            <a:ext cx="242783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1F1F"/>
                </a:solidFill>
                <a:latin typeface="Roboto" pitchFamily="34" charset="0"/>
                <a:ea typeface="Roboto" pitchFamily="34" charset="-122"/>
                <a:cs typeface="Roboto" pitchFamily="34" charset="-120"/>
              </a:rPr>
              <a:t>What this document is</a:t>
            </a:r>
            <a:endParaRPr lang="en-US" sz="1200" dirty="0"/>
          </a:p>
        </p:txBody>
      </p:sp>
      <p:sp>
        <p:nvSpPr>
          <p:cNvPr id="8" name="Text 6"/>
          <p:cNvSpPr/>
          <p:nvPr/>
        </p:nvSpPr>
        <p:spPr>
          <a:xfrm>
            <a:off x="1158240" y="2753361"/>
            <a:ext cx="1202214" cy="264160"/>
          </a:xfrm>
          <a:custGeom>
            <a:avLst/>
            <a:gdLst/>
            <a:ahLst/>
            <a:cxnLst/>
            <a:rect l="l" t="t" r="r" b="b"/>
            <a:pathLst>
              <a:path w="1202214" h="264160">
                <a:moveTo>
                  <a:pt x="127000" y="0"/>
                </a:moveTo>
                <a:lnTo>
                  <a:pt x="1075214" y="0"/>
                </a:lnTo>
                <a:arcTo hR="127000" wR="127000" stAng="16200000" swAng="5400000"/>
                <a:lnTo>
                  <a:pt x="1202214" y="137160"/>
                </a:lnTo>
                <a:arcTo hR="127000" wR="127000" stAng="0" swAng="5400000"/>
                <a:lnTo>
                  <a:pt x="127000" y="264160"/>
                </a:lnTo>
                <a:arcTo hR="127000" wR="127000" stAng="5400000" swAng="5400000"/>
                <a:lnTo>
                  <a:pt x="0" y="127000"/>
                </a:lnTo>
                <a:arcTo hR="127000" wR="127000" stAng="10800000" swAng="5400000"/>
                <a:close/>
              </a:path>
            </a:pathLst>
          </a:custGeom>
          <a:solidFill>
            <a:srgbClr val="E8F5E9"/>
          </a:solidFill>
          <a:ln/>
        </p:spPr>
        <p:txBody>
          <a:bodyPr wrap="none" lIns="0" tIns="0" rIns="0" bIns="0" rtlCol="0" anchor="ctr">
            <a:normAutofit/>
          </a:bodyPr>
          <a:lstStyle/>
          <a:p>
            <a:pPr algn="ctr" indent="0" marL="0">
              <a:lnSpc>
                <a:spcPts val="1680"/>
              </a:lnSpc>
              <a:buNone/>
            </a:pPr>
            <a:r>
              <a:rPr lang="en-US" sz="1200" dirty="0">
                <a:solidFill>
                  <a:srgbClr val="1B5E20"/>
                </a:solidFill>
                <a:latin typeface="Roboto" pitchFamily="34" charset="0"/>
                <a:ea typeface="Roboto" pitchFamily="34" charset="-122"/>
                <a:cs typeface="Roboto" pitchFamily="34" charset="-120"/>
              </a:rPr>
              <a:t>Eviction notice</a:t>
            </a:r>
            <a:endParaRPr lang="en-US" sz="1200" dirty="0"/>
          </a:p>
        </p:txBody>
      </p:sp>
      <p:sp>
        <p:nvSpPr>
          <p:cNvPr id="9" name="Shape 7"/>
          <p:cNvSpPr/>
          <p:nvPr/>
        </p:nvSpPr>
        <p:spPr>
          <a:xfrm>
            <a:off x="1026160" y="3225800"/>
            <a:ext cx="2621280" cy="1297940"/>
          </a:xfrm>
          <a:prstGeom prst="roundRect">
            <a:avLst>
              <a:gd name="adj" fmla="val 7828"/>
            </a:avLst>
          </a:prstGeom>
          <a:solidFill>
            <a:srgbClr val="FCE8E6"/>
          </a:solidFill>
          <a:ln/>
        </p:spPr>
      </p:sp>
      <p:sp>
        <p:nvSpPr>
          <p:cNvPr id="10" name="Text 8"/>
          <p:cNvSpPr/>
          <p:nvPr/>
        </p:nvSpPr>
        <p:spPr>
          <a:xfrm>
            <a:off x="1153160" y="3352800"/>
            <a:ext cx="24382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1E"/>
                </a:solidFill>
                <a:latin typeface="Roboto" pitchFamily="34" charset="0"/>
                <a:ea typeface="Roboto" pitchFamily="34" charset="-122"/>
                <a:cs typeface="Roboto" pitchFamily="34" charset="-120"/>
              </a:rPr>
              <a:t>Red flags</a:t>
            </a:r>
            <a:endParaRPr lang="en-US" sz="1200" dirty="0"/>
          </a:p>
        </p:txBody>
      </p:sp>
      <p:pic>
        <p:nvPicPr>
          <p:cNvPr id="11" name="Image 0" descr="Warning">    </p:cNvPr>
          <p:cNvPicPr>
            <a:picLocks noChangeAspect="1"/>
          </p:cNvPicPr>
          <p:nvPr/>
        </p:nvPicPr>
        <p:blipFill>
          <a:blip r:embed="rId1"/>
          <a:srcRect l="0" r="0" t="0" b="0"/>
          <a:stretch/>
        </p:blipFill>
        <p:spPr>
          <a:xfrm>
            <a:off x="1153160" y="3647441"/>
            <a:ext cx="177800" cy="177800"/>
          </a:xfrm>
          <a:prstGeom prst="rect">
            <a:avLst/>
          </a:prstGeom>
        </p:spPr>
      </p:pic>
      <p:sp>
        <p:nvSpPr>
          <p:cNvPr id="12" name="Text 9"/>
          <p:cNvSpPr/>
          <p:nvPr/>
        </p:nvSpPr>
        <p:spPr>
          <a:xfrm>
            <a:off x="1407160" y="3629661"/>
            <a:ext cx="20885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Roboto" pitchFamily="34" charset="0"/>
                <a:ea typeface="Roboto" pitchFamily="34" charset="-122"/>
                <a:cs typeface="Roboto" pitchFamily="34" charset="-120"/>
              </a:rPr>
              <a:t>Only 3 days given to leave</a:t>
            </a:r>
            <a:endParaRPr lang="en-US" sz="1200" dirty="0"/>
          </a:p>
        </p:txBody>
      </p:sp>
      <p:pic>
        <p:nvPicPr>
          <p:cNvPr id="13" name="Image 1" descr="Warning">    </p:cNvPr>
          <p:cNvPicPr>
            <a:picLocks noChangeAspect="1"/>
          </p:cNvPicPr>
          <p:nvPr/>
        </p:nvPicPr>
        <p:blipFill>
          <a:blip r:embed="rId2"/>
          <a:srcRect l="0" r="0" t="0" b="0"/>
          <a:stretch/>
        </p:blipFill>
        <p:spPr>
          <a:xfrm>
            <a:off x="1153160" y="3924300"/>
            <a:ext cx="177800" cy="177800"/>
          </a:xfrm>
          <a:prstGeom prst="rect">
            <a:avLst/>
          </a:prstGeom>
        </p:spPr>
      </p:pic>
      <p:sp>
        <p:nvSpPr>
          <p:cNvPr id="14" name="Text 10"/>
          <p:cNvSpPr/>
          <p:nvPr/>
        </p:nvSpPr>
        <p:spPr>
          <a:xfrm>
            <a:off x="1407160" y="3906520"/>
            <a:ext cx="17407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Roboto" pitchFamily="34" charset="0"/>
                <a:ea typeface="Roboto" pitchFamily="34" charset="-122"/>
                <a:cs typeface="Roboto" pitchFamily="34" charset="-120"/>
              </a:rPr>
              <a:t>No date on the notice</a:t>
            </a:r>
            <a:endParaRPr lang="en-US" sz="1200" dirty="0"/>
          </a:p>
        </p:txBody>
      </p:sp>
      <p:pic>
        <p:nvPicPr>
          <p:cNvPr id="15" name="Image 2" descr="Warning">    </p:cNvPr>
          <p:cNvPicPr>
            <a:picLocks noChangeAspect="1"/>
          </p:cNvPicPr>
          <p:nvPr/>
        </p:nvPicPr>
        <p:blipFill>
          <a:blip r:embed="rId3"/>
          <a:srcRect l="0" r="0" t="0" b="0"/>
          <a:stretch/>
        </p:blipFill>
        <p:spPr>
          <a:xfrm>
            <a:off x="1153160" y="4201161"/>
            <a:ext cx="177800" cy="177800"/>
          </a:xfrm>
          <a:prstGeom prst="rect">
            <a:avLst/>
          </a:prstGeom>
        </p:spPr>
      </p:pic>
      <p:sp>
        <p:nvSpPr>
          <p:cNvPr id="16" name="Text 11"/>
          <p:cNvSpPr/>
          <p:nvPr/>
        </p:nvSpPr>
        <p:spPr>
          <a:xfrm>
            <a:off x="1407160" y="4183380"/>
            <a:ext cx="17457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Roboto" pitchFamily="34" charset="0"/>
                <a:ea typeface="Roboto" pitchFamily="34" charset="-122"/>
                <a:cs typeface="Roboto" pitchFamily="34" charset="-120"/>
              </a:rPr>
              <a:t>No landlord signature</a:t>
            </a:r>
            <a:endParaRPr lang="en-US" sz="1200" dirty="0"/>
          </a:p>
        </p:txBody>
      </p:sp>
      <p:sp>
        <p:nvSpPr>
          <p:cNvPr id="17" name="Shape 12"/>
          <p:cNvSpPr/>
          <p:nvPr/>
        </p:nvSpPr>
        <p:spPr>
          <a:xfrm>
            <a:off x="1026160" y="4599941"/>
            <a:ext cx="2621280" cy="744220"/>
          </a:xfrm>
          <a:prstGeom prst="roundRect">
            <a:avLst>
              <a:gd name="adj" fmla="val 13652"/>
            </a:avLst>
          </a:prstGeom>
          <a:solidFill>
            <a:srgbClr val="FFF8E1"/>
          </a:solidFill>
          <a:ln/>
        </p:spPr>
      </p:sp>
      <p:sp>
        <p:nvSpPr>
          <p:cNvPr id="18" name="Text 13"/>
          <p:cNvSpPr/>
          <p:nvPr/>
        </p:nvSpPr>
        <p:spPr>
          <a:xfrm>
            <a:off x="1153160" y="4726941"/>
            <a:ext cx="24382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F00"/>
                </a:solidFill>
                <a:latin typeface="Roboto" pitchFamily="34" charset="0"/>
                <a:ea typeface="Roboto" pitchFamily="34" charset="-122"/>
                <a:cs typeface="Roboto" pitchFamily="34" charset="-120"/>
              </a:rPr>
              <a:t>What is missing</a:t>
            </a:r>
            <a:endParaRPr lang="en-US" sz="1200" dirty="0"/>
          </a:p>
        </p:txBody>
      </p:sp>
      <p:pic>
        <p:nvPicPr>
          <p:cNvPr id="19" name="Image 3" descr="Lightbulb">    </p:cNvPr>
          <p:cNvPicPr>
            <a:picLocks noChangeAspect="1"/>
          </p:cNvPicPr>
          <p:nvPr/>
        </p:nvPicPr>
        <p:blipFill>
          <a:blip r:embed="rId4"/>
          <a:srcRect l="0" r="0" t="0" b="0"/>
          <a:stretch/>
        </p:blipFill>
        <p:spPr>
          <a:xfrm>
            <a:off x="1153160" y="5021580"/>
            <a:ext cx="177800" cy="177800"/>
          </a:xfrm>
          <a:prstGeom prst="rect">
            <a:avLst/>
          </a:prstGeom>
        </p:spPr>
      </p:pic>
      <p:sp>
        <p:nvSpPr>
          <p:cNvPr id="20" name="Text 14"/>
          <p:cNvSpPr/>
          <p:nvPr/>
        </p:nvSpPr>
        <p:spPr>
          <a:xfrm>
            <a:off x="1407160" y="5003800"/>
            <a:ext cx="2240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Roboto" pitchFamily="34" charset="0"/>
                <a:ea typeface="Roboto" pitchFamily="34" charset="-122"/>
                <a:cs typeface="Roboto" pitchFamily="34" charset="-120"/>
              </a:rPr>
              <a:t>Landlord’s address and phone</a:t>
            </a:r>
            <a:endParaRPr lang="en-US" sz="1200" dirty="0"/>
          </a:p>
        </p:txBody>
      </p:sp>
      <p:sp>
        <p:nvSpPr>
          <p:cNvPr id="21" name="Text 15"/>
          <p:cNvSpPr/>
          <p:nvPr/>
        </p:nvSpPr>
        <p:spPr>
          <a:xfrm>
            <a:off x="4388358" y="2979420"/>
            <a:ext cx="7195058" cy="1447800"/>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1F1F1F"/>
                </a:solidFill>
                <a:latin typeface="Roboto" pitchFamily="34" charset="0"/>
                <a:ea typeface="Roboto" pitchFamily="34" charset="-122"/>
                <a:cs typeface="Roboto" pitchFamily="34" charset="-120"/>
              </a:rPr>
              <a:t>Take a photo or upload an image of any legal document.</a:t>
            </a:r>
            <a:endParaRPr lang="en-US" sz="1600" dirty="0"/>
          </a:p>
          <a:p>
            <a:pPr algn="l" marL="183642" indent="-183642">
              <a:lnSpc>
                <a:spcPts val="2240"/>
              </a:lnSpc>
              <a:buSzPct val="100000"/>
              <a:buChar char="•"/>
            </a:pPr>
            <a:r>
              <a:rPr lang="en-US" sz="1600" dirty="0">
                <a:solidFill>
                  <a:srgbClr val="1F1F1F"/>
                </a:solidFill>
                <a:latin typeface="Roboto" pitchFamily="34" charset="0"/>
                <a:ea typeface="Roboto" pitchFamily="34" charset="-122"/>
                <a:cs typeface="Roboto" pitchFamily="34" charset="-120"/>
              </a:rPr>
              <a:t>Gemma 4 reads the image directly and explains what it asks you to do.</a:t>
            </a:r>
            <a:endParaRPr lang="en-US" sz="1600" dirty="0"/>
          </a:p>
          <a:p>
            <a:pPr algn="l" marL="183642" indent="-183642">
              <a:lnSpc>
                <a:spcPts val="2240"/>
              </a:lnSpc>
              <a:buSzPct val="100000"/>
              <a:buChar char="•"/>
            </a:pPr>
            <a:r>
              <a:rPr lang="en-US" sz="1600" dirty="0">
                <a:solidFill>
                  <a:srgbClr val="1F1F1F"/>
                </a:solidFill>
                <a:latin typeface="Roboto" pitchFamily="34" charset="0"/>
                <a:ea typeface="Roboto" pitchFamily="34" charset="-122"/>
                <a:cs typeface="Roboto" pitchFamily="34" charset="-120"/>
              </a:rPr>
              <a:t>It flags short deadlines, missing dates, missing signatures and unfair terms.</a:t>
            </a:r>
            <a:endParaRPr lang="en-US" sz="1600" dirty="0"/>
          </a:p>
          <a:p>
            <a:pPr algn="l" marL="183642" indent="-183642">
              <a:lnSpc>
                <a:spcPts val="2240"/>
              </a:lnSpc>
              <a:buSzPct val="100000"/>
              <a:buChar char="•"/>
            </a:pPr>
            <a:r>
              <a:rPr lang="en-US" sz="1600" dirty="0">
                <a:solidFill>
                  <a:srgbClr val="1F1F1F"/>
                </a:solidFill>
                <a:latin typeface="Roboto" pitchFamily="34" charset="0"/>
                <a:ea typeface="Roboto" pitchFamily="34" charset="-122"/>
                <a:cs typeface="Roboto" pitchFamily="34" charset="-120"/>
              </a:rPr>
              <a:t>Each red flag is linked to the related section of Ugandan law.</a:t>
            </a:r>
            <a:endParaRPr lang="en-US" sz="1600" dirty="0"/>
          </a:p>
        </p:txBody>
      </p:sp>
      <p:sp>
        <p:nvSpPr>
          <p:cNvPr id="22" name="Text 16"/>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Sample output shown. Replace with a screenshot from the live demo.</a:t>
            </a:r>
            <a:endParaRPr lang="en-US" sz="1200" dirty="0"/>
          </a:p>
        </p:txBody>
      </p:sp>
      <p:sp>
        <p:nvSpPr>
          <p:cNvPr id="23" name="Text 17"/>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2966"/>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B5E20"/>
                </a:solidFill>
                <a:latin typeface="Roboto" pitchFamily="34" charset="0"/>
                <a:ea typeface="Roboto" pitchFamily="34" charset="-122"/>
                <a:cs typeface="Roboto" pitchFamily="34" charset="-120"/>
              </a:rPr>
              <a:t>FEATURE 2 · LUGANDA VOICE AND LANGUAGE SWITCH</a:t>
            </a:r>
            <a:endParaRPr lang="en-US" sz="1196" dirty="0"/>
          </a:p>
        </p:txBody>
      </p:sp>
      <p:sp>
        <p:nvSpPr>
          <p:cNvPr id="3" name="Text 1"/>
          <p:cNvSpPr/>
          <p:nvPr>
            <p:ph type="title"/>
          </p:nvPr>
        </p:nvSpPr>
        <p:spPr>
          <a:xfrm>
            <a:off x="812800" y="1096566"/>
            <a:ext cx="10883392" cy="480060"/>
          </a:xfrm>
          <a:prstGeom prst="rect">
            <a:avLst/>
          </a:prstGeom>
          <a:noFill/>
          <a:ln/>
        </p:spPr>
        <p:txBody>
          <a:bodyPr wrap="square" lIns="0" tIns="0" rIns="0" bIns="0" rtlCol="0" anchor="t">
            <a:normAutofit/>
          </a:bodyPr>
          <a:lstStyle/>
          <a:p>
            <a:pPr algn="l" indent="0" marL="0">
              <a:lnSpc>
                <a:spcPts val="3622"/>
              </a:lnSpc>
              <a:buNone/>
            </a:pPr>
            <a:r>
              <a:rPr lang="en-US" sz="3150" b="1" i="0" dirty="0">
                <a:solidFill>
                  <a:srgbClr val="1F1F1F"/>
                </a:solidFill>
                <a:latin typeface="Roboto" pitchFamily="34" charset="0"/>
                <a:ea typeface="Roboto" pitchFamily="34" charset="-122"/>
                <a:cs typeface="Roboto" pitchFamily="34" charset="-120"/>
              </a:rPr>
              <a:t>Speak Luganda. Switch language any time.</a:t>
            </a:r>
            <a:endParaRPr lang="en-US" sz="3150" dirty="0"/>
          </a:p>
        </p:txBody>
      </p:sp>
      <p:sp>
        <p:nvSpPr>
          <p:cNvPr id="4" name="Shape 2"/>
          <p:cNvSpPr/>
          <p:nvPr/>
        </p:nvSpPr>
        <p:spPr>
          <a:xfrm>
            <a:off x="844550" y="1786573"/>
            <a:ext cx="2984500" cy="4074160"/>
          </a:xfrm>
          <a:prstGeom prst="roundRect">
            <a:avLst>
              <a:gd name="adj" fmla="val 9149"/>
            </a:avLst>
          </a:prstGeom>
          <a:solidFill>
            <a:srgbClr val="F1F3F4"/>
          </a:solidFill>
          <a:ln w="63500">
            <a:solidFill>
              <a:srgbClr val="1F1F1F"/>
            </a:solidFill>
            <a:prstDash val="solid"/>
          </a:ln>
        </p:spPr>
      </p:sp>
      <p:sp>
        <p:nvSpPr>
          <p:cNvPr id="5" name="Text 3"/>
          <p:cNvSpPr/>
          <p:nvPr/>
        </p:nvSpPr>
        <p:spPr>
          <a:xfrm>
            <a:off x="1026160" y="1994852"/>
            <a:ext cx="82981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F1F"/>
                </a:solidFill>
                <a:latin typeface="Roboto" pitchFamily="34" charset="0"/>
                <a:ea typeface="Roboto" pitchFamily="34" charset="-122"/>
                <a:cs typeface="Roboto" pitchFamily="34" charset="-120"/>
              </a:rPr>
              <a:t>Eddembe</a:t>
            </a:r>
            <a:endParaRPr lang="en-US" sz="1300" dirty="0"/>
          </a:p>
        </p:txBody>
      </p:sp>
      <p:sp>
        <p:nvSpPr>
          <p:cNvPr id="6" name="Shape 4"/>
          <p:cNvSpPr/>
          <p:nvPr/>
        </p:nvSpPr>
        <p:spPr>
          <a:xfrm>
            <a:off x="2197338" y="1974534"/>
            <a:ext cx="1443752" cy="271780"/>
          </a:xfrm>
          <a:prstGeom prst="roundRect">
            <a:avLst>
              <a:gd name="adj" fmla="val 50000"/>
            </a:avLst>
          </a:prstGeom>
          <a:noFill/>
          <a:ln w="12700">
            <a:solidFill>
              <a:srgbClr val="1B5E20"/>
            </a:solidFill>
            <a:prstDash val="solid"/>
          </a:ln>
        </p:spPr>
      </p:sp>
      <p:sp>
        <p:nvSpPr>
          <p:cNvPr id="7" name="Text 5"/>
          <p:cNvSpPr/>
          <p:nvPr/>
        </p:nvSpPr>
        <p:spPr>
          <a:xfrm>
            <a:off x="2290048" y="2003744"/>
            <a:ext cx="5819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5E20"/>
                </a:solidFill>
                <a:latin typeface="Roboto" pitchFamily="34" charset="0"/>
                <a:ea typeface="Roboto" pitchFamily="34" charset="-122"/>
                <a:cs typeface="Roboto" pitchFamily="34" charset="-120"/>
              </a:rPr>
              <a:t>English</a:t>
            </a:r>
            <a:endParaRPr lang="en-US" sz="1200" dirty="0"/>
          </a:p>
        </p:txBody>
      </p:sp>
      <p:sp>
        <p:nvSpPr>
          <p:cNvPr id="8" name="Text 6"/>
          <p:cNvSpPr/>
          <p:nvPr/>
        </p:nvSpPr>
        <p:spPr>
          <a:xfrm>
            <a:off x="2872026" y="1978344"/>
            <a:ext cx="765254" cy="264160"/>
          </a:xfrm>
          <a:custGeom>
            <a:avLst/>
            <a:gdLst/>
            <a:ahLst/>
            <a:cxnLst/>
            <a:rect l="l" t="t" r="r" b="b"/>
            <a:pathLst>
              <a:path w="765254" h="264160">
                <a:moveTo>
                  <a:pt x="633174" y="0"/>
                </a:moveTo>
                <a:arcTo hR="132080" wR="132080" stAng="16200000" swAng="5400000"/>
                <a:lnTo>
                  <a:pt x="765254" y="132080"/>
                </a:lnTo>
                <a:arcTo hR="132080" wR="132080" stAng="0" swAng="5400000"/>
                <a:lnTo>
                  <a:pt x="0" y="264160"/>
                </a:lnTo>
                <a:lnTo>
                  <a:pt x="0" y="0"/>
                </a:lnTo>
                <a:close/>
              </a:path>
            </a:pathLst>
          </a:custGeom>
          <a:solidFill>
            <a:srgbClr val="1B5E20"/>
          </a:solidFill>
          <a:ln/>
        </p:spPr>
        <p:txBody>
          <a:bodyPr wrap="none" lIns="0" tIns="0" rIns="0" bIns="0" rtlCol="0" anchor="ctr">
            <a:normAutofit/>
          </a:bodyPr>
          <a:lstStyle/>
          <a:p>
            <a:pPr algn="ctr" indent="0" marL="0">
              <a:lnSpc>
                <a:spcPts val="1680"/>
              </a:lnSpc>
              <a:buNone/>
            </a:pPr>
            <a:r>
              <a:rPr lang="en-US" sz="1200" b="1" dirty="0">
                <a:solidFill>
                  <a:srgbClr val="F8F9FA"/>
                </a:solidFill>
                <a:latin typeface="Roboto" pitchFamily="34" charset="0"/>
                <a:ea typeface="Roboto" pitchFamily="34" charset="-122"/>
                <a:cs typeface="Roboto" pitchFamily="34" charset="-120"/>
              </a:rPr>
              <a:t>Luganda</a:t>
            </a:r>
            <a:endParaRPr lang="en-US" sz="1200" dirty="0"/>
          </a:p>
        </p:txBody>
      </p:sp>
      <p:sp>
        <p:nvSpPr>
          <p:cNvPr id="9" name="Shape 7"/>
          <p:cNvSpPr/>
          <p:nvPr/>
        </p:nvSpPr>
        <p:spPr>
          <a:xfrm>
            <a:off x="1026160" y="2328863"/>
            <a:ext cx="2621280" cy="340360"/>
          </a:xfrm>
          <a:prstGeom prst="roundRect">
            <a:avLst>
              <a:gd name="adj" fmla="val 44776"/>
            </a:avLst>
          </a:prstGeom>
          <a:solidFill>
            <a:srgbClr val="FCE8E6"/>
          </a:solidFill>
          <a:ln/>
        </p:spPr>
      </p:sp>
      <p:pic>
        <p:nvPicPr>
          <p:cNvPr id="10" name="Image 0" descr="ellipse">    </p:cNvPr>
          <p:cNvPicPr>
            <a:picLocks noChangeAspect="1"/>
          </p:cNvPicPr>
          <p:nvPr/>
        </p:nvPicPr>
        <p:blipFill>
          <a:blip r:embed="rId1"/>
          <a:srcRect l="0" r="0" t="0" b="0"/>
          <a:stretch/>
        </p:blipFill>
        <p:spPr>
          <a:xfrm>
            <a:off x="1153160" y="2435544"/>
            <a:ext cx="127000" cy="127000"/>
          </a:xfrm>
          <a:prstGeom prst="rect">
            <a:avLst/>
          </a:prstGeom>
        </p:spPr>
      </p:pic>
      <p:sp>
        <p:nvSpPr>
          <p:cNvPr id="11" name="Text 8"/>
          <p:cNvSpPr/>
          <p:nvPr/>
        </p:nvSpPr>
        <p:spPr>
          <a:xfrm>
            <a:off x="1356360" y="2392363"/>
            <a:ext cx="9046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261E"/>
                </a:solidFill>
                <a:latin typeface="Roboto" pitchFamily="34" charset="0"/>
                <a:ea typeface="Roboto" pitchFamily="34" charset="-122"/>
                <a:cs typeface="Roboto" pitchFamily="34" charset="-120"/>
              </a:rPr>
              <a:t>Listening...</a:t>
            </a:r>
            <a:endParaRPr lang="en-US" sz="1200" dirty="0"/>
          </a:p>
        </p:txBody>
      </p:sp>
      <p:sp>
        <p:nvSpPr>
          <p:cNvPr id="12" name="Shape 9"/>
          <p:cNvSpPr/>
          <p:nvPr/>
        </p:nvSpPr>
        <p:spPr>
          <a:xfrm>
            <a:off x="1029335" y="2748598"/>
            <a:ext cx="2614930" cy="1215390"/>
          </a:xfrm>
          <a:prstGeom prst="roundRect">
            <a:avLst>
              <a:gd name="adj" fmla="val 8098"/>
            </a:avLst>
          </a:prstGeom>
          <a:solidFill>
            <a:srgbClr val="FFFFFF"/>
          </a:solidFill>
          <a:ln w="6350">
            <a:solidFill>
              <a:srgbClr val="E0E0E0"/>
            </a:solidFill>
            <a:prstDash val="solid"/>
          </a:ln>
        </p:spPr>
      </p:sp>
      <p:sp>
        <p:nvSpPr>
          <p:cNvPr id="13" name="Text 10"/>
          <p:cNvSpPr/>
          <p:nvPr/>
        </p:nvSpPr>
        <p:spPr>
          <a:xfrm>
            <a:off x="1158240" y="2877502"/>
            <a:ext cx="242783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5E20"/>
                </a:solidFill>
                <a:latin typeface="Roboto" pitchFamily="34" charset="0"/>
                <a:ea typeface="Roboto" pitchFamily="34" charset="-122"/>
                <a:cs typeface="Roboto" pitchFamily="34" charset="-120"/>
              </a:rPr>
              <a:t>What we heard (Luganda)</a:t>
            </a:r>
            <a:endParaRPr lang="en-US" sz="1200" dirty="0"/>
          </a:p>
        </p:txBody>
      </p:sp>
      <p:sp>
        <p:nvSpPr>
          <p:cNvPr id="14" name="Text 11"/>
          <p:cNvSpPr/>
          <p:nvPr/>
        </p:nvSpPr>
        <p:spPr>
          <a:xfrm>
            <a:off x="1158240" y="3141663"/>
            <a:ext cx="242783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F1F"/>
                </a:solidFill>
                <a:latin typeface="Roboto" pitchFamily="34" charset="0"/>
                <a:ea typeface="Roboto" pitchFamily="34" charset="-122"/>
                <a:cs typeface="Roboto" pitchFamily="34" charset="-120"/>
              </a:rPr>
              <a:t>Nnannyini nnyumba ampadde ennaku ssatu zokka okufuluma. Kino kituufu mu mateeka?</a:t>
            </a:r>
            <a:endParaRPr lang="en-US" sz="1300" dirty="0"/>
          </a:p>
        </p:txBody>
      </p:sp>
      <p:sp>
        <p:nvSpPr>
          <p:cNvPr id="15" name="Shape 12"/>
          <p:cNvSpPr/>
          <p:nvPr/>
        </p:nvSpPr>
        <p:spPr>
          <a:xfrm>
            <a:off x="1029335" y="4046538"/>
            <a:ext cx="2614930" cy="1162050"/>
          </a:xfrm>
          <a:prstGeom prst="roundRect">
            <a:avLst>
              <a:gd name="adj" fmla="val 8470"/>
            </a:avLst>
          </a:prstGeom>
          <a:solidFill>
            <a:srgbClr val="FFFFFF"/>
          </a:solidFill>
          <a:ln w="6350">
            <a:solidFill>
              <a:srgbClr val="E0E0E0"/>
            </a:solidFill>
            <a:prstDash val="solid"/>
          </a:ln>
        </p:spPr>
      </p:sp>
      <p:sp>
        <p:nvSpPr>
          <p:cNvPr id="16" name="Text 13"/>
          <p:cNvSpPr/>
          <p:nvPr/>
        </p:nvSpPr>
        <p:spPr>
          <a:xfrm>
            <a:off x="1158240" y="4175444"/>
            <a:ext cx="242783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368"/>
                </a:solidFill>
                <a:latin typeface="Roboto" pitchFamily="34" charset="0"/>
                <a:ea typeface="Roboto" pitchFamily="34" charset="-122"/>
                <a:cs typeface="Roboto" pitchFamily="34" charset="-120"/>
              </a:rPr>
              <a:t>In English</a:t>
            </a:r>
            <a:endParaRPr lang="en-US" sz="1200" dirty="0"/>
          </a:p>
        </p:txBody>
      </p:sp>
      <p:sp>
        <p:nvSpPr>
          <p:cNvPr id="17" name="Text 14"/>
          <p:cNvSpPr/>
          <p:nvPr/>
        </p:nvSpPr>
        <p:spPr>
          <a:xfrm>
            <a:off x="1158240" y="4439602"/>
            <a:ext cx="242783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My landlord has given me only three days to leave. Is this right under the law?</a:t>
            </a:r>
            <a:endParaRPr lang="en-US" sz="1200" dirty="0"/>
          </a:p>
        </p:txBody>
      </p:sp>
      <p:sp>
        <p:nvSpPr>
          <p:cNvPr id="18" name="Shape 15"/>
          <p:cNvSpPr/>
          <p:nvPr/>
        </p:nvSpPr>
        <p:spPr>
          <a:xfrm>
            <a:off x="1026160" y="5287963"/>
            <a:ext cx="2621280" cy="391160"/>
          </a:xfrm>
          <a:prstGeom prst="roundRect">
            <a:avLst>
              <a:gd name="adj" fmla="val 25974"/>
            </a:avLst>
          </a:prstGeom>
          <a:solidFill>
            <a:srgbClr val="E8F5E9"/>
          </a:solidFill>
          <a:ln/>
        </p:spPr>
      </p:sp>
      <p:pic>
        <p:nvPicPr>
          <p:cNvPr id="19" name="Image 1" descr="Play">    </p:cNvPr>
          <p:cNvPicPr>
            <a:picLocks noChangeAspect="1"/>
          </p:cNvPicPr>
          <p:nvPr/>
        </p:nvPicPr>
        <p:blipFill>
          <a:blip r:embed="rId2"/>
          <a:srcRect l="0" r="0" t="0" b="0"/>
          <a:stretch/>
        </p:blipFill>
        <p:spPr>
          <a:xfrm>
            <a:off x="1153160" y="5394644"/>
            <a:ext cx="177800" cy="177800"/>
          </a:xfrm>
          <a:prstGeom prst="rect">
            <a:avLst/>
          </a:prstGeom>
        </p:spPr>
      </p:pic>
      <p:sp>
        <p:nvSpPr>
          <p:cNvPr id="20" name="Text 16"/>
          <p:cNvSpPr/>
          <p:nvPr/>
        </p:nvSpPr>
        <p:spPr>
          <a:xfrm>
            <a:off x="1407160" y="5376863"/>
            <a:ext cx="16523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5E20"/>
                </a:solidFill>
                <a:latin typeface="Roboto" pitchFamily="34" charset="0"/>
                <a:ea typeface="Roboto" pitchFamily="34" charset="-122"/>
                <a:cs typeface="Roboto" pitchFamily="34" charset="-120"/>
              </a:rPr>
              <a:t>Listen to the answer</a:t>
            </a:r>
            <a:endParaRPr lang="en-US" sz="1200" dirty="0"/>
          </a:p>
        </p:txBody>
      </p:sp>
      <p:sp>
        <p:nvSpPr>
          <p:cNvPr id="21" name="Text 17"/>
          <p:cNvSpPr/>
          <p:nvPr/>
        </p:nvSpPr>
        <p:spPr>
          <a:xfrm>
            <a:off x="4353798" y="2827893"/>
            <a:ext cx="7229618" cy="2016760"/>
          </a:xfrm>
          <a:prstGeom prst="rect">
            <a:avLst/>
          </a:prstGeom>
          <a:noFill/>
          <a:ln/>
        </p:spPr>
        <p:txBody>
          <a:bodyPr wrap="square" lIns="0" tIns="0" rIns="0" bIns="0" rtlCol="0" anchor="t">
            <a:normAutofit/>
          </a:bodyPr>
          <a:lstStyle/>
          <a:p>
            <a:pPr algn="l" marL="218202" indent="-218202">
              <a:lnSpc>
                <a:spcPts val="2240"/>
              </a:lnSpc>
              <a:buSzPct val="100000"/>
              <a:buFontTx/>
              <a:buAutoNum type="arabicPeriod" startAt="1"/>
            </a:pPr>
            <a:r>
              <a:rPr lang="en-US" sz="1600" dirty="0">
                <a:solidFill>
                  <a:srgbClr val="1F1F1F"/>
                </a:solidFill>
                <a:latin typeface="Roboto" pitchFamily="34" charset="0"/>
                <a:ea typeface="Roboto" pitchFamily="34" charset="-122"/>
                <a:cs typeface="Roboto" pitchFamily="34" charset="-120"/>
              </a:rPr>
              <a:t>Tap the mic and ask in Luganda.</a:t>
            </a:r>
            <a:endParaRPr lang="en-US" sz="1600" dirty="0"/>
          </a:p>
          <a:p>
            <a:pPr algn="l" marL="218202" indent="-218202">
              <a:lnSpc>
                <a:spcPts val="2240"/>
              </a:lnSpc>
              <a:buSzPct val="100000"/>
              <a:buFontTx/>
              <a:buAutoNum type="arabicPeriod" startAt="1"/>
            </a:pPr>
            <a:r>
              <a:rPr lang="en-US" sz="1600" dirty="0">
                <a:solidFill>
                  <a:srgbClr val="1F1F1F"/>
                </a:solidFill>
                <a:latin typeface="Roboto" pitchFamily="34" charset="0"/>
                <a:ea typeface="Roboto" pitchFamily="34" charset="-122"/>
                <a:cs typeface="Roboto" pitchFamily="34" charset="-120"/>
              </a:rPr>
              <a:t>Sunbird AI turns the speech into Luganda text, shown on screen so you can check it.</a:t>
            </a:r>
            <a:endParaRPr lang="en-US" sz="1600" dirty="0"/>
          </a:p>
          <a:p>
            <a:pPr algn="l" marL="218202" indent="-218202">
              <a:lnSpc>
                <a:spcPts val="2240"/>
              </a:lnSpc>
              <a:buSzPct val="100000"/>
              <a:buFontTx/>
              <a:buAutoNum type="arabicPeriod" startAt="1"/>
            </a:pPr>
            <a:r>
              <a:rPr lang="en-US" sz="1600" dirty="0">
                <a:solidFill>
                  <a:srgbClr val="1F1F1F"/>
                </a:solidFill>
                <a:latin typeface="Roboto" pitchFamily="34" charset="0"/>
                <a:ea typeface="Roboto" pitchFamily="34" charset="-122"/>
                <a:cs typeface="Roboto" pitchFamily="34" charset="-120"/>
              </a:rPr>
              <a:t>The question is translated to English to search the law.</a:t>
            </a:r>
            <a:endParaRPr lang="en-US" sz="1600" dirty="0"/>
          </a:p>
          <a:p>
            <a:pPr algn="l" marL="218202" indent="-218202">
              <a:lnSpc>
                <a:spcPts val="2240"/>
              </a:lnSpc>
              <a:buSzPct val="100000"/>
              <a:buFontTx/>
              <a:buAutoNum type="arabicPeriod" startAt="1"/>
            </a:pPr>
            <a:r>
              <a:rPr lang="en-US" sz="1600" dirty="0">
                <a:solidFill>
                  <a:srgbClr val="1F1F1F"/>
                </a:solidFill>
                <a:latin typeface="Roboto" pitchFamily="34" charset="0"/>
                <a:ea typeface="Roboto" pitchFamily="34" charset="-122"/>
                <a:cs typeface="Roboto" pitchFamily="34" charset="-120"/>
              </a:rPr>
              <a:t>Gemma 4 answers, and the answer comes back in Luganda as text and audio.</a:t>
            </a:r>
            <a:endParaRPr lang="en-US" sz="1600" dirty="0"/>
          </a:p>
          <a:p>
            <a:pPr algn="l" marL="218202" indent="-218202">
              <a:lnSpc>
                <a:spcPts val="2240"/>
              </a:lnSpc>
              <a:buSzPct val="100000"/>
              <a:buFontTx/>
              <a:buAutoNum type="arabicPeriod" startAt="1"/>
            </a:pPr>
            <a:r>
              <a:rPr lang="en-US" sz="1600" dirty="0">
                <a:solidFill>
                  <a:srgbClr val="1F1F1F"/>
                </a:solidFill>
                <a:latin typeface="Roboto" pitchFamily="34" charset="0"/>
                <a:ea typeface="Roboto" pitchFamily="34" charset="-122"/>
                <a:cs typeface="Roboto" pitchFamily="34" charset="-120"/>
              </a:rPr>
              <a:t>One tap on the switch changes the whole app’s language.</a:t>
            </a:r>
            <a:endParaRPr lang="en-US" sz="1600" dirty="0"/>
          </a:p>
        </p:txBody>
      </p:sp>
      <p:sp>
        <p:nvSpPr>
          <p:cNvPr id="22" name="Text 18"/>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Sample output shown. Replace with a real transcription from the live demo. Speech and translation by Sunbird AI.</a:t>
            </a:r>
            <a:endParaRPr lang="en-US" sz="1200" dirty="0"/>
          </a:p>
        </p:txBody>
      </p:sp>
      <p:sp>
        <p:nvSpPr>
          <p:cNvPr id="23" name="Text 19"/>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FEATURE 3 · REFERENCES AND LETTER GENERATION</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Answers with sources, then a letter</a:t>
            </a:r>
            <a:endParaRPr lang="en-US" sz="3200" dirty="0"/>
          </a:p>
        </p:txBody>
      </p:sp>
      <p:sp>
        <p:nvSpPr>
          <p:cNvPr id="4" name="Shape 2"/>
          <p:cNvSpPr/>
          <p:nvPr/>
        </p:nvSpPr>
        <p:spPr>
          <a:xfrm>
            <a:off x="815975" y="1826896"/>
            <a:ext cx="5099050" cy="3450590"/>
          </a:xfrm>
          <a:prstGeom prst="roundRect">
            <a:avLst>
              <a:gd name="adj" fmla="val 2852"/>
            </a:avLst>
          </a:prstGeom>
          <a:solidFill>
            <a:srgbClr val="FFFFFF"/>
          </a:solidFill>
          <a:ln w="6350">
            <a:solidFill>
              <a:srgbClr val="E0E0E0"/>
            </a:solidFill>
            <a:prstDash val="solid"/>
          </a:ln>
        </p:spPr>
      </p:sp>
      <p:sp>
        <p:nvSpPr>
          <p:cNvPr id="5" name="Text 3"/>
          <p:cNvSpPr/>
          <p:nvPr/>
        </p:nvSpPr>
        <p:spPr>
          <a:xfrm>
            <a:off x="1021080" y="2032000"/>
            <a:ext cx="482950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B5E20"/>
                </a:solidFill>
                <a:latin typeface="Roboto" pitchFamily="34" charset="0"/>
                <a:ea typeface="Roboto" pitchFamily="34" charset="-122"/>
                <a:cs typeface="Roboto" pitchFamily="34" charset="-120"/>
              </a:rPr>
              <a:t>ANSWER</a:t>
            </a:r>
            <a:endParaRPr lang="en-US" sz="1200" dirty="0"/>
          </a:p>
        </p:txBody>
      </p:sp>
      <p:sp>
        <p:nvSpPr>
          <p:cNvPr id="6" name="Text 4"/>
          <p:cNvSpPr/>
          <p:nvPr/>
        </p:nvSpPr>
        <p:spPr>
          <a:xfrm>
            <a:off x="1021080" y="2346961"/>
            <a:ext cx="4829505"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1F1F"/>
                </a:solidFill>
                <a:latin typeface="Roboto" pitchFamily="34" charset="0"/>
                <a:ea typeface="Roboto" pitchFamily="34" charset="-122"/>
                <a:cs typeface="Roboto" pitchFamily="34" charset="-120"/>
              </a:rPr>
              <a:t>A home tenancy needs at least 7 days’ notice if weekly and 30 days if monthly. Shorter notice is void. A landlord cannot evict you outside the Act.</a:t>
            </a:r>
            <a:endParaRPr lang="en-US" sz="1400" dirty="0"/>
          </a:p>
        </p:txBody>
      </p:sp>
      <p:sp>
        <p:nvSpPr>
          <p:cNvPr id="7" name="Text 5"/>
          <p:cNvSpPr/>
          <p:nvPr/>
        </p:nvSpPr>
        <p:spPr>
          <a:xfrm>
            <a:off x="1021080" y="3248661"/>
            <a:ext cx="48295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1F1F"/>
                </a:solidFill>
                <a:latin typeface="Roboto" pitchFamily="34" charset="0"/>
                <a:ea typeface="Roboto" pitchFamily="34" charset="-122"/>
                <a:cs typeface="Roboto" pitchFamily="34" charset="-120"/>
              </a:rPr>
              <a:t>Where this comes from</a:t>
            </a:r>
            <a:endParaRPr lang="en-US" sz="1200" dirty="0"/>
          </a:p>
        </p:txBody>
      </p:sp>
      <p:sp>
        <p:nvSpPr>
          <p:cNvPr id="8" name="Shape 6"/>
          <p:cNvSpPr/>
          <p:nvPr/>
        </p:nvSpPr>
        <p:spPr>
          <a:xfrm>
            <a:off x="1024255" y="3566796"/>
            <a:ext cx="4682490" cy="697230"/>
          </a:xfrm>
          <a:prstGeom prst="roundRect">
            <a:avLst>
              <a:gd name="adj" fmla="val 10474"/>
            </a:avLst>
          </a:prstGeom>
          <a:noFill/>
          <a:ln w="6350">
            <a:solidFill>
              <a:srgbClr val="E0E0E0"/>
            </a:solidFill>
            <a:prstDash val="solid"/>
          </a:ln>
        </p:spPr>
      </p:sp>
      <p:sp>
        <p:nvSpPr>
          <p:cNvPr id="9" name="Text 7"/>
          <p:cNvSpPr/>
          <p:nvPr/>
        </p:nvSpPr>
        <p:spPr>
          <a:xfrm>
            <a:off x="1153160" y="3670300"/>
            <a:ext cx="45574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1F1F"/>
                </a:solidFill>
                <a:latin typeface="Roboto" pitchFamily="34" charset="0"/>
                <a:ea typeface="Roboto" pitchFamily="34" charset="-122"/>
                <a:cs typeface="Roboto" pitchFamily="34" charset="-120"/>
              </a:rPr>
              <a:t>Landlord and Tenant Act, 2022</a:t>
            </a:r>
            <a:endParaRPr lang="en-US" sz="1200" dirty="0"/>
          </a:p>
        </p:txBody>
      </p:sp>
      <p:sp>
        <p:nvSpPr>
          <p:cNvPr id="10" name="Text 8"/>
          <p:cNvSpPr/>
          <p:nvPr/>
        </p:nvSpPr>
        <p:spPr>
          <a:xfrm>
            <a:off x="1153160" y="3921761"/>
            <a:ext cx="903288" cy="238760"/>
          </a:xfrm>
          <a:custGeom>
            <a:avLst/>
            <a:gdLst/>
            <a:ahLst/>
            <a:cxnLst/>
            <a:rect l="l" t="t" r="r" b="b"/>
            <a:pathLst>
              <a:path w="903288" h="238760">
                <a:moveTo>
                  <a:pt x="119380" y="0"/>
                </a:moveTo>
                <a:lnTo>
                  <a:pt x="783907" y="0"/>
                </a:lnTo>
                <a:arcTo hR="119380" wR="119380" stAng="16200000" swAng="5400000"/>
                <a:lnTo>
                  <a:pt x="903288" y="119380"/>
                </a:lnTo>
                <a:arcTo hR="119380" wR="119380" stAng="0" swAng="5400000"/>
                <a:lnTo>
                  <a:pt x="119380" y="238760"/>
                </a:lnTo>
                <a:arcTo hR="119380" wR="119380" stAng="5400000" swAng="5400000"/>
                <a:lnTo>
                  <a:pt x="0" y="119380"/>
                </a:lnTo>
                <a:arcTo hR="119380" wR="119380" stAng="10800000" swAng="5400000"/>
                <a:close/>
              </a:path>
            </a:pathLst>
          </a:custGeom>
          <a:solidFill>
            <a:srgbClr val="E8F5E9"/>
          </a:solidFill>
          <a:ln/>
        </p:spPr>
        <p:txBody>
          <a:bodyPr wrap="none" lIns="0" tIns="0" rIns="0" bIns="0" rtlCol="0" anchor="ctr">
            <a:normAutofit/>
          </a:bodyPr>
          <a:lstStyle/>
          <a:p>
            <a:pPr algn="ctr" indent="0" marL="0">
              <a:lnSpc>
                <a:spcPts val="1680"/>
              </a:lnSpc>
              <a:buNone/>
            </a:pPr>
            <a:r>
              <a:rPr lang="en-US" sz="1200" dirty="0">
                <a:solidFill>
                  <a:srgbClr val="1B5E20"/>
                </a:solidFill>
                <a:latin typeface="Roboto" pitchFamily="34" charset="0"/>
                <a:ea typeface="Roboto" pitchFamily="34" charset="-122"/>
                <a:cs typeface="Roboto" pitchFamily="34" charset="-120"/>
              </a:rPr>
              <a:t>Section 38</a:t>
            </a:r>
            <a:endParaRPr lang="en-US" sz="1200" dirty="0"/>
          </a:p>
        </p:txBody>
      </p:sp>
      <p:sp>
        <p:nvSpPr>
          <p:cNvPr id="11" name="Text 9"/>
          <p:cNvSpPr/>
          <p:nvPr/>
        </p:nvSpPr>
        <p:spPr>
          <a:xfrm>
            <a:off x="2132648" y="3921761"/>
            <a:ext cx="19490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Termination after notice</a:t>
            </a:r>
            <a:endParaRPr lang="en-US" sz="1200" dirty="0"/>
          </a:p>
        </p:txBody>
      </p:sp>
      <p:sp>
        <p:nvSpPr>
          <p:cNvPr id="12" name="Shape 10"/>
          <p:cNvSpPr/>
          <p:nvPr/>
        </p:nvSpPr>
        <p:spPr>
          <a:xfrm>
            <a:off x="1024255" y="4371975"/>
            <a:ext cx="4682490" cy="697230"/>
          </a:xfrm>
          <a:prstGeom prst="roundRect">
            <a:avLst>
              <a:gd name="adj" fmla="val 10474"/>
            </a:avLst>
          </a:prstGeom>
          <a:noFill/>
          <a:ln w="6350">
            <a:solidFill>
              <a:srgbClr val="E0E0E0"/>
            </a:solidFill>
            <a:prstDash val="solid"/>
          </a:ln>
        </p:spPr>
      </p:sp>
      <p:sp>
        <p:nvSpPr>
          <p:cNvPr id="13" name="Text 11"/>
          <p:cNvSpPr/>
          <p:nvPr/>
        </p:nvSpPr>
        <p:spPr>
          <a:xfrm>
            <a:off x="1153160" y="4475482"/>
            <a:ext cx="45574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1F1F"/>
                </a:solidFill>
                <a:latin typeface="Roboto" pitchFamily="34" charset="0"/>
                <a:ea typeface="Roboto" pitchFamily="34" charset="-122"/>
                <a:cs typeface="Roboto" pitchFamily="34" charset="-120"/>
              </a:rPr>
              <a:t>Landlord and Tenant Act, 2022</a:t>
            </a:r>
            <a:endParaRPr lang="en-US" sz="1200" dirty="0"/>
          </a:p>
        </p:txBody>
      </p:sp>
      <p:sp>
        <p:nvSpPr>
          <p:cNvPr id="14" name="Text 12"/>
          <p:cNvSpPr/>
          <p:nvPr/>
        </p:nvSpPr>
        <p:spPr>
          <a:xfrm>
            <a:off x="1153160" y="4726939"/>
            <a:ext cx="903288" cy="238760"/>
          </a:xfrm>
          <a:custGeom>
            <a:avLst/>
            <a:gdLst/>
            <a:ahLst/>
            <a:cxnLst/>
            <a:rect l="l" t="t" r="r" b="b"/>
            <a:pathLst>
              <a:path w="903288" h="238760">
                <a:moveTo>
                  <a:pt x="119380" y="0"/>
                </a:moveTo>
                <a:lnTo>
                  <a:pt x="783907" y="0"/>
                </a:lnTo>
                <a:arcTo hR="119380" wR="119380" stAng="16200000" swAng="5400000"/>
                <a:lnTo>
                  <a:pt x="903288" y="119380"/>
                </a:lnTo>
                <a:arcTo hR="119380" wR="119380" stAng="0" swAng="5400000"/>
                <a:lnTo>
                  <a:pt x="119380" y="238760"/>
                </a:lnTo>
                <a:arcTo hR="119380" wR="119380" stAng="5400000" swAng="5400000"/>
                <a:lnTo>
                  <a:pt x="0" y="119380"/>
                </a:lnTo>
                <a:arcTo hR="119380" wR="119380" stAng="10800000" swAng="5400000"/>
                <a:close/>
              </a:path>
            </a:pathLst>
          </a:custGeom>
          <a:solidFill>
            <a:srgbClr val="E8F5E9"/>
          </a:solidFill>
          <a:ln/>
        </p:spPr>
        <p:txBody>
          <a:bodyPr wrap="none" lIns="0" tIns="0" rIns="0" bIns="0" rtlCol="0" anchor="ctr">
            <a:normAutofit/>
          </a:bodyPr>
          <a:lstStyle/>
          <a:p>
            <a:pPr algn="ctr" indent="0" marL="0">
              <a:lnSpc>
                <a:spcPts val="1680"/>
              </a:lnSpc>
              <a:buNone/>
            </a:pPr>
            <a:r>
              <a:rPr lang="en-US" sz="1200" dirty="0">
                <a:solidFill>
                  <a:srgbClr val="1B5E20"/>
                </a:solidFill>
                <a:latin typeface="Roboto" pitchFamily="34" charset="0"/>
                <a:ea typeface="Roboto" pitchFamily="34" charset="-122"/>
                <a:cs typeface="Roboto" pitchFamily="34" charset="-120"/>
              </a:rPr>
              <a:t>Section 45</a:t>
            </a:r>
            <a:endParaRPr lang="en-US" sz="1200" dirty="0"/>
          </a:p>
        </p:txBody>
      </p:sp>
      <p:sp>
        <p:nvSpPr>
          <p:cNvPr id="15" name="Text 13"/>
          <p:cNvSpPr/>
          <p:nvPr/>
        </p:nvSpPr>
        <p:spPr>
          <a:xfrm>
            <a:off x="2132648" y="4726939"/>
            <a:ext cx="2166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Unlawful eviction of tenant</a:t>
            </a:r>
            <a:endParaRPr lang="en-US" sz="1200" dirty="0"/>
          </a:p>
        </p:txBody>
      </p:sp>
      <p:sp>
        <p:nvSpPr>
          <p:cNvPr id="16" name="Shape 14"/>
          <p:cNvSpPr/>
          <p:nvPr/>
        </p:nvSpPr>
        <p:spPr>
          <a:xfrm>
            <a:off x="6175375" y="1826896"/>
            <a:ext cx="5200650" cy="3354070"/>
          </a:xfrm>
          <a:prstGeom prst="roundRect">
            <a:avLst>
              <a:gd name="adj" fmla="val 1420"/>
            </a:avLst>
          </a:prstGeom>
          <a:solidFill>
            <a:srgbClr val="FFFFFF"/>
          </a:solidFill>
          <a:ln w="6350">
            <a:solidFill>
              <a:srgbClr val="E0E0E0"/>
            </a:solidFill>
            <a:prstDash val="solid"/>
          </a:ln>
        </p:spPr>
      </p:sp>
      <p:sp>
        <p:nvSpPr>
          <p:cNvPr id="17" name="Text 15"/>
          <p:cNvSpPr/>
          <p:nvPr/>
        </p:nvSpPr>
        <p:spPr>
          <a:xfrm>
            <a:off x="6431280" y="2057400"/>
            <a:ext cx="48295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Georgia" pitchFamily="18" charset="0"/>
                <a:ea typeface="Georgia" pitchFamily="18" charset="-122"/>
                <a:cs typeface="Georgia" pitchFamily="18" charset="-120"/>
              </a:rPr>
              <a:t>[Your name], [Your address]</a:t>
            </a:r>
            <a:endParaRPr lang="en-US" sz="1200" dirty="0"/>
          </a:p>
        </p:txBody>
      </p:sp>
      <p:sp>
        <p:nvSpPr>
          <p:cNvPr id="18" name="Text 16"/>
          <p:cNvSpPr/>
          <p:nvPr/>
        </p:nvSpPr>
        <p:spPr>
          <a:xfrm>
            <a:off x="6431280" y="2334261"/>
            <a:ext cx="48295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Georgia" pitchFamily="18" charset="0"/>
                <a:ea typeface="Georgia" pitchFamily="18" charset="-122"/>
                <a:cs typeface="Georgia" pitchFamily="18" charset="-120"/>
              </a:rPr>
              <a:t>[Date]</a:t>
            </a:r>
            <a:endParaRPr lang="en-US" sz="1200" dirty="0"/>
          </a:p>
        </p:txBody>
      </p:sp>
      <p:sp>
        <p:nvSpPr>
          <p:cNvPr id="19" name="Text 17"/>
          <p:cNvSpPr/>
          <p:nvPr/>
        </p:nvSpPr>
        <p:spPr>
          <a:xfrm>
            <a:off x="6431280" y="2611121"/>
            <a:ext cx="48295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Georgia" pitchFamily="18" charset="0"/>
                <a:ea typeface="Georgia" pitchFamily="18" charset="-122"/>
                <a:cs typeface="Georgia" pitchFamily="18" charset="-120"/>
              </a:rPr>
              <a:t>Dear [Landlord’s name],</a:t>
            </a:r>
            <a:endParaRPr lang="en-US" sz="1200" dirty="0"/>
          </a:p>
        </p:txBody>
      </p:sp>
      <p:sp>
        <p:nvSpPr>
          <p:cNvPr id="20" name="Text 18"/>
          <p:cNvSpPr/>
          <p:nvPr/>
        </p:nvSpPr>
        <p:spPr>
          <a:xfrm>
            <a:off x="6431280" y="2887982"/>
            <a:ext cx="48295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1F1F"/>
                </a:solidFill>
                <a:latin typeface="Georgia" pitchFamily="18" charset="0"/>
                <a:ea typeface="Georgia" pitchFamily="18" charset="-122"/>
                <a:cs typeface="Georgia" pitchFamily="18" charset="-120"/>
              </a:rPr>
              <a:t>Re: Notice to vacate</a:t>
            </a:r>
            <a:endParaRPr lang="en-US" sz="1200" dirty="0"/>
          </a:p>
        </p:txBody>
      </p:sp>
      <p:sp>
        <p:nvSpPr>
          <p:cNvPr id="21" name="Text 19"/>
          <p:cNvSpPr/>
          <p:nvPr/>
        </p:nvSpPr>
        <p:spPr>
          <a:xfrm>
            <a:off x="6431280" y="3164839"/>
            <a:ext cx="482950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Georgia" pitchFamily="18" charset="0"/>
                <a:ea typeface="Georgia" pitchFamily="18" charset="-122"/>
                <a:cs typeface="Georgia" pitchFamily="18" charset="-120"/>
              </a:rPr>
              <a:t>I received your notice asking me to leave within three days. My tenancy is monthly, and section 38 of the Landlord and Tenant Act, 2022 requires at least 30 days’ notice. I ask that we follow the proper process.</a:t>
            </a:r>
            <a:endParaRPr lang="en-US" sz="1200" dirty="0"/>
          </a:p>
        </p:txBody>
      </p:sp>
      <p:sp>
        <p:nvSpPr>
          <p:cNvPr id="22" name="Text 20"/>
          <p:cNvSpPr/>
          <p:nvPr/>
        </p:nvSpPr>
        <p:spPr>
          <a:xfrm>
            <a:off x="6431280" y="4081782"/>
            <a:ext cx="48295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F1F"/>
                </a:solidFill>
                <a:latin typeface="Georgia" pitchFamily="18" charset="0"/>
                <a:ea typeface="Georgia" pitchFamily="18" charset="-122"/>
                <a:cs typeface="Georgia" pitchFamily="18" charset="-120"/>
              </a:rPr>
              <a:t>Yours faithfully, [Your name]</a:t>
            </a:r>
            <a:endParaRPr lang="en-US" sz="1200" dirty="0"/>
          </a:p>
        </p:txBody>
      </p:sp>
      <p:sp>
        <p:nvSpPr>
          <p:cNvPr id="23" name="Text 21"/>
          <p:cNvSpPr/>
          <p:nvPr/>
        </p:nvSpPr>
        <p:spPr>
          <a:xfrm>
            <a:off x="6431280" y="4358639"/>
            <a:ext cx="4829505"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F6368"/>
                </a:solidFill>
                <a:latin typeface="Georgia" pitchFamily="18" charset="0"/>
                <a:ea typeface="Georgia" pitchFamily="18" charset="-122"/>
                <a:cs typeface="Georgia" pitchFamily="18" charset="-120"/>
              </a:rPr>
              <a:t>Prepared with help from an AI tool. Not legal advice.</a:t>
            </a:r>
            <a:endParaRPr lang="en-US" sz="1200" dirty="0"/>
          </a:p>
        </p:txBody>
      </p:sp>
      <p:sp>
        <p:nvSpPr>
          <p:cNvPr id="24" name="Text 22"/>
          <p:cNvSpPr/>
          <p:nvPr/>
        </p:nvSpPr>
        <p:spPr>
          <a:xfrm>
            <a:off x="6437630" y="4641850"/>
            <a:ext cx="657860" cy="302260"/>
          </a:xfrm>
          <a:prstGeom prst="roundRect">
            <a:avLst>
              <a:gd name="adj" fmla="val 48319"/>
            </a:avLst>
          </a:prstGeom>
          <a:noFill/>
          <a:ln w="12700">
            <a:solidFill>
              <a:srgbClr val="1B5E20"/>
            </a:solidFill>
            <a:prstDash val="solid"/>
          </a:ln>
        </p:spPr>
        <p:txBody>
          <a:bodyPr wrap="none" lIns="0" tIns="0" rIns="0" bIns="0" rtlCol="0" anchor="ctr">
            <a:normAutofit/>
          </a:bodyPr>
          <a:lstStyle/>
          <a:p>
            <a:pPr algn="ctr" indent="0" marL="0">
              <a:lnSpc>
                <a:spcPts val="1680"/>
              </a:lnSpc>
              <a:buNone/>
            </a:pPr>
            <a:r>
              <a:rPr lang="en-US" sz="1200" dirty="0">
                <a:solidFill>
                  <a:srgbClr val="1B5E20"/>
                </a:solidFill>
                <a:latin typeface="Roboto" pitchFamily="34" charset="0"/>
                <a:ea typeface="Roboto" pitchFamily="34" charset="-122"/>
                <a:cs typeface="Roboto" pitchFamily="34" charset="-120"/>
              </a:rPr>
              <a:t>Copy</a:t>
            </a:r>
            <a:endParaRPr lang="en-US" sz="1200" dirty="0"/>
          </a:p>
        </p:txBody>
      </p:sp>
      <p:sp>
        <p:nvSpPr>
          <p:cNvPr id="25" name="Text 23"/>
          <p:cNvSpPr/>
          <p:nvPr/>
        </p:nvSpPr>
        <p:spPr>
          <a:xfrm>
            <a:off x="7203440" y="4635500"/>
            <a:ext cx="1007507" cy="314960"/>
          </a:xfrm>
          <a:prstGeom prst="roundRect">
            <a:avLst>
              <a:gd name="adj" fmla="val 48387"/>
            </a:avLst>
          </a:prstGeom>
          <a:solidFill>
            <a:srgbClr val="1B5E20"/>
          </a:solidFill>
          <a:ln/>
        </p:spPr>
        <p:txBody>
          <a:bodyPr wrap="none" lIns="0" tIns="0" rIns="0" bIns="0" rtlCol="0" anchor="ctr">
            <a:normAutofit/>
          </a:bodyPr>
          <a:lstStyle/>
          <a:p>
            <a:pPr algn="ctr" indent="0" marL="0">
              <a:lnSpc>
                <a:spcPts val="1680"/>
              </a:lnSpc>
              <a:buNone/>
            </a:pPr>
            <a:r>
              <a:rPr lang="en-US" sz="1200" dirty="0">
                <a:solidFill>
                  <a:srgbClr val="F8F9FA"/>
                </a:solidFill>
                <a:latin typeface="Roboto" pitchFamily="34" charset="0"/>
                <a:ea typeface="Roboto" pitchFamily="34" charset="-122"/>
                <a:cs typeface="Roboto" pitchFamily="34" charset="-120"/>
              </a:rPr>
              <a:t>Download</a:t>
            </a:r>
            <a:endParaRPr lang="en-US" sz="1200" dirty="0"/>
          </a:p>
        </p:txBody>
      </p:sp>
      <p:sp>
        <p:nvSpPr>
          <p:cNvPr id="26" name="Text 24"/>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Sample output. Law: Landlord and Tenant Act, 2022, sections 38 and 45 (ULII).</a:t>
            </a:r>
            <a:endParaRPr lang="en-US" sz="1200" dirty="0"/>
          </a:p>
        </p:txBody>
      </p:sp>
      <p:sp>
        <p:nvSpPr>
          <p:cNvPr id="27" name="Text 25"/>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GEMMA 4 INTEGRATION</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Gemma 4 is the engine, not an add-on</a:t>
            </a:r>
            <a:endParaRPr lang="en-US" sz="3200" dirty="0"/>
          </a:p>
        </p:txBody>
      </p:sp>
      <p:sp>
        <p:nvSpPr>
          <p:cNvPr id="4" name="Shape 2"/>
          <p:cNvSpPr/>
          <p:nvPr/>
        </p:nvSpPr>
        <p:spPr>
          <a:xfrm>
            <a:off x="812800" y="1823721"/>
            <a:ext cx="3420507" cy="1798320"/>
          </a:xfrm>
          <a:prstGeom prst="roundRect">
            <a:avLst>
              <a:gd name="adj" fmla="val 5650"/>
            </a:avLst>
          </a:prstGeom>
          <a:solidFill>
            <a:srgbClr val="1B5E20"/>
          </a:solidFill>
          <a:ln/>
        </p:spPr>
      </p:sp>
      <p:sp>
        <p:nvSpPr>
          <p:cNvPr id="5" name="Text 3"/>
          <p:cNvSpPr/>
          <p:nvPr/>
        </p:nvSpPr>
        <p:spPr>
          <a:xfrm>
            <a:off x="1016000" y="2026921"/>
            <a:ext cx="310453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D54F"/>
                </a:solidFill>
                <a:latin typeface="Roboto" pitchFamily="34" charset="0"/>
                <a:ea typeface="Roboto" pitchFamily="34" charset="-122"/>
                <a:cs typeface="Roboto" pitchFamily="34" charset="-120"/>
              </a:rPr>
              <a:t>1</a:t>
            </a:r>
            <a:endParaRPr lang="en-US" sz="2800" dirty="0"/>
          </a:p>
        </p:txBody>
      </p:sp>
      <p:sp>
        <p:nvSpPr>
          <p:cNvPr id="6" name="Text 4"/>
          <p:cNvSpPr/>
          <p:nvPr/>
        </p:nvSpPr>
        <p:spPr>
          <a:xfrm>
            <a:off x="1016000" y="2458721"/>
            <a:ext cx="310453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9FA"/>
                </a:solidFill>
                <a:latin typeface="Roboto" pitchFamily="34" charset="0"/>
                <a:ea typeface="Roboto" pitchFamily="34" charset="-122"/>
                <a:cs typeface="Roboto" pitchFamily="34" charset="-120"/>
              </a:rPr>
              <a:t>Reads documents</a:t>
            </a:r>
            <a:endParaRPr lang="en-US" sz="1600" dirty="0"/>
          </a:p>
        </p:txBody>
      </p:sp>
      <p:sp>
        <p:nvSpPr>
          <p:cNvPr id="7" name="Text 5"/>
          <p:cNvSpPr/>
          <p:nvPr/>
        </p:nvSpPr>
        <p:spPr>
          <a:xfrm>
            <a:off x="1016000" y="2778761"/>
            <a:ext cx="310453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F5E9"/>
                </a:solidFill>
                <a:latin typeface="Roboto" pitchFamily="34" charset="0"/>
                <a:ea typeface="Roboto" pitchFamily="34" charset="-122"/>
                <a:cs typeface="Roboto" pitchFamily="34" charset="-120"/>
              </a:rPr>
              <a:t>The photo goes to Gemma 4 as image input. It transcribes the text, names the document and lists red flags.</a:t>
            </a:r>
            <a:endParaRPr lang="en-US" sz="1200" dirty="0"/>
          </a:p>
        </p:txBody>
      </p:sp>
      <p:sp>
        <p:nvSpPr>
          <p:cNvPr id="8" name="Shape 6"/>
          <p:cNvSpPr/>
          <p:nvPr/>
        </p:nvSpPr>
        <p:spPr>
          <a:xfrm>
            <a:off x="4385707" y="1823721"/>
            <a:ext cx="3420586" cy="1798320"/>
          </a:xfrm>
          <a:prstGeom prst="roundRect">
            <a:avLst>
              <a:gd name="adj" fmla="val 5650"/>
            </a:avLst>
          </a:prstGeom>
          <a:solidFill>
            <a:srgbClr val="1B5E20"/>
          </a:solidFill>
          <a:ln/>
        </p:spPr>
      </p:sp>
      <p:sp>
        <p:nvSpPr>
          <p:cNvPr id="9" name="Text 7"/>
          <p:cNvSpPr/>
          <p:nvPr/>
        </p:nvSpPr>
        <p:spPr>
          <a:xfrm>
            <a:off x="4588907" y="2026921"/>
            <a:ext cx="310461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D54F"/>
                </a:solidFill>
                <a:latin typeface="Roboto" pitchFamily="34" charset="0"/>
                <a:ea typeface="Roboto" pitchFamily="34" charset="-122"/>
                <a:cs typeface="Roboto" pitchFamily="34" charset="-120"/>
              </a:rPr>
              <a:t>2</a:t>
            </a:r>
            <a:endParaRPr lang="en-US" sz="2800" dirty="0"/>
          </a:p>
        </p:txBody>
      </p:sp>
      <p:sp>
        <p:nvSpPr>
          <p:cNvPr id="10" name="Text 8"/>
          <p:cNvSpPr/>
          <p:nvPr/>
        </p:nvSpPr>
        <p:spPr>
          <a:xfrm>
            <a:off x="4588907" y="2458721"/>
            <a:ext cx="310461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9FA"/>
                </a:solidFill>
                <a:latin typeface="Roboto" pitchFamily="34" charset="0"/>
                <a:ea typeface="Roboto" pitchFamily="34" charset="-122"/>
                <a:cs typeface="Roboto" pitchFamily="34" charset="-120"/>
              </a:rPr>
              <a:t>Answers from the law</a:t>
            </a:r>
            <a:endParaRPr lang="en-US" sz="1600" dirty="0"/>
          </a:p>
        </p:txBody>
      </p:sp>
      <p:sp>
        <p:nvSpPr>
          <p:cNvPr id="11" name="Text 9"/>
          <p:cNvSpPr/>
          <p:nvPr/>
        </p:nvSpPr>
        <p:spPr>
          <a:xfrm>
            <a:off x="4588907" y="2778761"/>
            <a:ext cx="310461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F5E9"/>
                </a:solidFill>
                <a:latin typeface="Roboto" pitchFamily="34" charset="0"/>
                <a:ea typeface="Roboto" pitchFamily="34" charset="-122"/>
                <a:cs typeface="Roboto" pitchFamily="34" charset="-120"/>
              </a:rPr>
              <a:t>We retrieve the 5 closest law sections. Gemma 4 answers only from them and cites each section.</a:t>
            </a:r>
            <a:endParaRPr lang="en-US" sz="1200" dirty="0"/>
          </a:p>
        </p:txBody>
      </p:sp>
      <p:sp>
        <p:nvSpPr>
          <p:cNvPr id="12" name="Shape 10"/>
          <p:cNvSpPr/>
          <p:nvPr/>
        </p:nvSpPr>
        <p:spPr>
          <a:xfrm>
            <a:off x="7958693" y="1823721"/>
            <a:ext cx="3420507" cy="1798320"/>
          </a:xfrm>
          <a:prstGeom prst="roundRect">
            <a:avLst>
              <a:gd name="adj" fmla="val 5650"/>
            </a:avLst>
          </a:prstGeom>
          <a:solidFill>
            <a:srgbClr val="1B5E20"/>
          </a:solidFill>
          <a:ln/>
        </p:spPr>
      </p:sp>
      <p:sp>
        <p:nvSpPr>
          <p:cNvPr id="13" name="Text 11"/>
          <p:cNvSpPr/>
          <p:nvPr/>
        </p:nvSpPr>
        <p:spPr>
          <a:xfrm>
            <a:off x="8161893" y="2026921"/>
            <a:ext cx="310453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D54F"/>
                </a:solidFill>
                <a:latin typeface="Roboto" pitchFamily="34" charset="0"/>
                <a:ea typeface="Roboto" pitchFamily="34" charset="-122"/>
                <a:cs typeface="Roboto" pitchFamily="34" charset="-120"/>
              </a:rPr>
              <a:t>3</a:t>
            </a:r>
            <a:endParaRPr lang="en-US" sz="2800" dirty="0"/>
          </a:p>
        </p:txBody>
      </p:sp>
      <p:sp>
        <p:nvSpPr>
          <p:cNvPr id="14" name="Text 12"/>
          <p:cNvSpPr/>
          <p:nvPr/>
        </p:nvSpPr>
        <p:spPr>
          <a:xfrm>
            <a:off x="8161893" y="2458721"/>
            <a:ext cx="310453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9FA"/>
                </a:solidFill>
                <a:latin typeface="Roboto" pitchFamily="34" charset="0"/>
                <a:ea typeface="Roboto" pitchFamily="34" charset="-122"/>
                <a:cs typeface="Roboto" pitchFamily="34" charset="-120"/>
              </a:rPr>
              <a:t>Writes letters</a:t>
            </a:r>
            <a:endParaRPr lang="en-US" sz="1600" dirty="0"/>
          </a:p>
        </p:txBody>
      </p:sp>
      <p:sp>
        <p:nvSpPr>
          <p:cNvPr id="15" name="Text 13"/>
          <p:cNvSpPr/>
          <p:nvPr/>
        </p:nvSpPr>
        <p:spPr>
          <a:xfrm>
            <a:off x="8161893" y="2778761"/>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F5E9"/>
                </a:solidFill>
                <a:latin typeface="Roboto" pitchFamily="34" charset="0"/>
                <a:ea typeface="Roboto" pitchFamily="34" charset="-122"/>
                <a:cs typeface="Roboto" pitchFamily="34" charset="-120"/>
              </a:rPr>
              <a:t>Gemma 4 drafts a short, firm letter that cites only the retrieved sections.</a:t>
            </a:r>
            <a:endParaRPr lang="en-US" sz="1200" dirty="0"/>
          </a:p>
        </p:txBody>
      </p:sp>
      <p:sp>
        <p:nvSpPr>
          <p:cNvPr id="16" name="Shape 14"/>
          <p:cNvSpPr/>
          <p:nvPr/>
        </p:nvSpPr>
        <p:spPr>
          <a:xfrm>
            <a:off x="812800" y="3876039"/>
            <a:ext cx="3420507" cy="801370"/>
          </a:xfrm>
          <a:prstGeom prst="roundRect">
            <a:avLst>
              <a:gd name="adj" fmla="val 12678"/>
            </a:avLst>
          </a:prstGeom>
          <a:solidFill>
            <a:srgbClr val="E8F5E9"/>
          </a:solidFill>
          <a:ln/>
        </p:spPr>
      </p:sp>
      <p:pic>
        <p:nvPicPr>
          <p:cNvPr id="17" name="Image 0" descr="CheckCircle">    </p:cNvPr>
          <p:cNvPicPr>
            <a:picLocks noChangeAspect="1"/>
          </p:cNvPicPr>
          <p:nvPr/>
        </p:nvPicPr>
        <p:blipFill>
          <a:blip r:embed="rId1"/>
          <a:srcRect l="0" r="0" t="-980" b="-980"/>
          <a:stretch/>
        </p:blipFill>
        <p:spPr>
          <a:xfrm>
            <a:off x="990600" y="4053839"/>
            <a:ext cx="161925" cy="254000"/>
          </a:xfrm>
          <a:prstGeom prst="rect">
            <a:avLst/>
          </a:prstGeom>
        </p:spPr>
      </p:pic>
      <p:sp>
        <p:nvSpPr>
          <p:cNvPr id="18" name="Text 15"/>
          <p:cNvSpPr/>
          <p:nvPr/>
        </p:nvSpPr>
        <p:spPr>
          <a:xfrm>
            <a:off x="1254125" y="4053839"/>
            <a:ext cx="288542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1F1F"/>
                </a:solidFill>
                <a:latin typeface="Roboto" pitchFamily="34" charset="0"/>
                <a:ea typeface="Roboto" pitchFamily="34" charset="-122"/>
                <a:cs typeface="Roboto" pitchFamily="34" charset="-120"/>
              </a:rPr>
              <a:t>Structured JSON output, validated and retried once if broken</a:t>
            </a:r>
            <a:endParaRPr lang="en-US" sz="1300" dirty="0"/>
          </a:p>
        </p:txBody>
      </p:sp>
      <p:sp>
        <p:nvSpPr>
          <p:cNvPr id="19" name="Shape 16"/>
          <p:cNvSpPr/>
          <p:nvPr/>
        </p:nvSpPr>
        <p:spPr>
          <a:xfrm>
            <a:off x="4385707" y="3876039"/>
            <a:ext cx="3420586" cy="801370"/>
          </a:xfrm>
          <a:prstGeom prst="roundRect">
            <a:avLst>
              <a:gd name="adj" fmla="val 12678"/>
            </a:avLst>
          </a:prstGeom>
          <a:solidFill>
            <a:srgbClr val="E8F5E9"/>
          </a:solidFill>
          <a:ln/>
        </p:spPr>
      </p:sp>
      <p:pic>
        <p:nvPicPr>
          <p:cNvPr id="20" name="Image 1" descr="CheckCircle">    </p:cNvPr>
          <p:cNvPicPr>
            <a:picLocks noChangeAspect="1"/>
          </p:cNvPicPr>
          <p:nvPr/>
        </p:nvPicPr>
        <p:blipFill>
          <a:blip r:embed="rId2"/>
          <a:srcRect l="-383" r="-383" t="0" b="0"/>
          <a:stretch/>
        </p:blipFill>
        <p:spPr>
          <a:xfrm>
            <a:off x="4563507" y="4053839"/>
            <a:ext cx="198358" cy="254000"/>
          </a:xfrm>
          <a:prstGeom prst="rect">
            <a:avLst/>
          </a:prstGeom>
        </p:spPr>
      </p:pic>
      <p:sp>
        <p:nvSpPr>
          <p:cNvPr id="21" name="Text 17"/>
          <p:cNvSpPr/>
          <p:nvPr/>
        </p:nvSpPr>
        <p:spPr>
          <a:xfrm>
            <a:off x="4863465" y="4053839"/>
            <a:ext cx="2847979"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1F1F"/>
                </a:solidFill>
                <a:latin typeface="Roboto" pitchFamily="34" charset="0"/>
                <a:ea typeface="Roboto" pitchFamily="34" charset="-122"/>
                <a:cs typeface="Roboto" pitchFamily="34" charset="-120"/>
              </a:rPr>
              <a:t>Says so when the law doesn’t cover the question</a:t>
            </a:r>
            <a:endParaRPr lang="en-US" sz="1300" dirty="0"/>
          </a:p>
        </p:txBody>
      </p:sp>
      <p:sp>
        <p:nvSpPr>
          <p:cNvPr id="22" name="Shape 18"/>
          <p:cNvSpPr/>
          <p:nvPr/>
        </p:nvSpPr>
        <p:spPr>
          <a:xfrm>
            <a:off x="7958693" y="3876039"/>
            <a:ext cx="3420507" cy="801370"/>
          </a:xfrm>
          <a:prstGeom prst="roundRect">
            <a:avLst>
              <a:gd name="adj" fmla="val 12678"/>
            </a:avLst>
          </a:prstGeom>
          <a:solidFill>
            <a:srgbClr val="E8F5E9"/>
          </a:solidFill>
          <a:ln/>
        </p:spPr>
      </p:sp>
      <p:pic>
        <p:nvPicPr>
          <p:cNvPr id="23" name="Image 2" descr="CheckCircle">    </p:cNvPr>
          <p:cNvPicPr>
            <a:picLocks noChangeAspect="1"/>
          </p:cNvPicPr>
          <p:nvPr/>
        </p:nvPicPr>
        <p:blipFill>
          <a:blip r:embed="rId3"/>
          <a:srcRect l="0" r="0" t="-585" b="-585"/>
          <a:stretch/>
        </p:blipFill>
        <p:spPr>
          <a:xfrm>
            <a:off x="8136493" y="4053839"/>
            <a:ext cx="251063" cy="254000"/>
          </a:xfrm>
          <a:prstGeom prst="rect">
            <a:avLst/>
          </a:prstGeom>
        </p:spPr>
      </p:pic>
      <p:sp>
        <p:nvSpPr>
          <p:cNvPr id="24" name="Text 19"/>
          <p:cNvSpPr/>
          <p:nvPr/>
        </p:nvSpPr>
        <p:spPr>
          <a:xfrm>
            <a:off x="8489156" y="4053839"/>
            <a:ext cx="279361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1F1F"/>
                </a:solidFill>
                <a:latin typeface="Roboto" pitchFamily="34" charset="0"/>
                <a:ea typeface="Roboto" pitchFamily="34" charset="-122"/>
                <a:cs typeface="Roboto" pitchFamily="34" charset="-120"/>
              </a:rPr>
              <a:t>Disclaimer on every answer and letter</a:t>
            </a:r>
            <a:endParaRPr lang="en-US" sz="1300" dirty="0"/>
          </a:p>
        </p:txBody>
      </p:sp>
      <p:sp>
        <p:nvSpPr>
          <p:cNvPr id="25" name="Text 20"/>
          <p:cNvSpPr/>
          <p:nvPr/>
        </p:nvSpPr>
        <p:spPr>
          <a:xfrm>
            <a:off x="812800" y="4931411"/>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Pipeline: phone → Sunbird AI (Luganda speech and translation) → pgvector search over 6 legal texts → Gemma 4 via the Gemini API → answer, citations, letter</a:t>
            </a:r>
            <a:endParaRPr lang="en-US" sz="1200" dirty="0"/>
          </a:p>
        </p:txBody>
      </p:sp>
      <p:sp>
        <p:nvSpPr>
          <p:cNvPr id="26" name="Text 21"/>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IMPACT AND MARKET</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Millions of people, one phone away</a:t>
            </a:r>
            <a:endParaRPr lang="en-US" sz="3200" dirty="0"/>
          </a:p>
        </p:txBody>
      </p:sp>
      <p:sp>
        <p:nvSpPr>
          <p:cNvPr id="4" name="Shape 2"/>
          <p:cNvSpPr/>
          <p:nvPr/>
        </p:nvSpPr>
        <p:spPr>
          <a:xfrm>
            <a:off x="815975" y="1826896"/>
            <a:ext cx="3417570" cy="1993900"/>
          </a:xfrm>
          <a:prstGeom prst="roundRect">
            <a:avLst>
              <a:gd name="adj" fmla="val 4936"/>
            </a:avLst>
          </a:prstGeom>
          <a:solidFill>
            <a:srgbClr val="FFFFFF"/>
          </a:solidFill>
          <a:ln w="6350">
            <a:solidFill>
              <a:srgbClr val="E0E0E0"/>
            </a:solidFill>
            <a:prstDash val="solid"/>
          </a:ln>
        </p:spPr>
      </p:sp>
      <p:sp>
        <p:nvSpPr>
          <p:cNvPr id="5" name="Text 3"/>
          <p:cNvSpPr/>
          <p:nvPr/>
        </p:nvSpPr>
        <p:spPr>
          <a:xfrm>
            <a:off x="1021080" y="2032000"/>
            <a:ext cx="309758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B5E20"/>
                </a:solidFill>
                <a:latin typeface="Roboto" pitchFamily="34" charset="0"/>
                <a:ea typeface="Roboto" pitchFamily="34" charset="-122"/>
                <a:cs typeface="Roboto" pitchFamily="34" charset="-120"/>
              </a:rPr>
              <a:t>45.9M</a:t>
            </a:r>
            <a:endParaRPr lang="en-US" sz="4400" dirty="0"/>
          </a:p>
        </p:txBody>
      </p:sp>
      <p:sp>
        <p:nvSpPr>
          <p:cNvPr id="6" name="Text 4"/>
          <p:cNvSpPr/>
          <p:nvPr/>
        </p:nvSpPr>
        <p:spPr>
          <a:xfrm>
            <a:off x="1021080" y="2641600"/>
            <a:ext cx="309758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F1F"/>
                </a:solidFill>
                <a:latin typeface="Roboto" pitchFamily="34" charset="0"/>
                <a:ea typeface="Roboto" pitchFamily="34" charset="-122"/>
                <a:cs typeface="Roboto" pitchFamily="34" charset="-120"/>
              </a:rPr>
              <a:t>people in Uganda, all living under these laws</a:t>
            </a:r>
            <a:endParaRPr lang="en-US" sz="1400" dirty="0"/>
          </a:p>
        </p:txBody>
      </p:sp>
      <p:sp>
        <p:nvSpPr>
          <p:cNvPr id="7" name="Text 5"/>
          <p:cNvSpPr/>
          <p:nvPr/>
        </p:nvSpPr>
        <p:spPr>
          <a:xfrm>
            <a:off x="1021080" y="3172461"/>
            <a:ext cx="30975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UBOS Census 2024</a:t>
            </a:r>
            <a:endParaRPr lang="en-US" sz="1200" dirty="0"/>
          </a:p>
        </p:txBody>
      </p:sp>
      <p:sp>
        <p:nvSpPr>
          <p:cNvPr id="8" name="Shape 6"/>
          <p:cNvSpPr/>
          <p:nvPr/>
        </p:nvSpPr>
        <p:spPr>
          <a:xfrm>
            <a:off x="4392295" y="1826896"/>
            <a:ext cx="3417570" cy="1993900"/>
          </a:xfrm>
          <a:prstGeom prst="roundRect">
            <a:avLst>
              <a:gd name="adj" fmla="val 4936"/>
            </a:avLst>
          </a:prstGeom>
          <a:solidFill>
            <a:srgbClr val="FFFFFF"/>
          </a:solidFill>
          <a:ln w="6350">
            <a:solidFill>
              <a:srgbClr val="E0E0E0"/>
            </a:solidFill>
            <a:prstDash val="solid"/>
          </a:ln>
        </p:spPr>
      </p:sp>
      <p:sp>
        <p:nvSpPr>
          <p:cNvPr id="9" name="Text 7"/>
          <p:cNvSpPr/>
          <p:nvPr/>
        </p:nvSpPr>
        <p:spPr>
          <a:xfrm>
            <a:off x="4597400" y="2032000"/>
            <a:ext cx="309758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B5E20"/>
                </a:solidFill>
                <a:latin typeface="Roboto" pitchFamily="34" charset="0"/>
                <a:ea typeface="Roboto" pitchFamily="34" charset="-122"/>
                <a:cs typeface="Roboto" pitchFamily="34" charset="-120"/>
              </a:rPr>
              <a:t>17.6M</a:t>
            </a:r>
            <a:endParaRPr lang="en-US" sz="4400" dirty="0"/>
          </a:p>
        </p:txBody>
      </p:sp>
      <p:sp>
        <p:nvSpPr>
          <p:cNvPr id="10" name="Text 8"/>
          <p:cNvSpPr/>
          <p:nvPr/>
        </p:nvSpPr>
        <p:spPr>
          <a:xfrm>
            <a:off x="4597400" y="2641600"/>
            <a:ext cx="3097581"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F1F"/>
                </a:solidFill>
                <a:latin typeface="Roboto" pitchFamily="34" charset="0"/>
                <a:ea typeface="Roboto" pitchFamily="34" charset="-122"/>
                <a:cs typeface="Roboto" pitchFamily="34" charset="-120"/>
              </a:rPr>
              <a:t>smartphones in use in Uganda</a:t>
            </a:r>
            <a:endParaRPr lang="en-US" sz="1400" dirty="0"/>
          </a:p>
        </p:txBody>
      </p:sp>
      <p:sp>
        <p:nvSpPr>
          <p:cNvPr id="11" name="Text 9"/>
          <p:cNvSpPr/>
          <p:nvPr/>
        </p:nvSpPr>
        <p:spPr>
          <a:xfrm>
            <a:off x="4597400" y="2932432"/>
            <a:ext cx="30975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UCC, mid-2025</a:t>
            </a:r>
            <a:endParaRPr lang="en-US" sz="1200" dirty="0"/>
          </a:p>
        </p:txBody>
      </p:sp>
      <p:sp>
        <p:nvSpPr>
          <p:cNvPr id="12" name="Shape 10"/>
          <p:cNvSpPr/>
          <p:nvPr/>
        </p:nvSpPr>
        <p:spPr>
          <a:xfrm>
            <a:off x="7965440" y="1823721"/>
            <a:ext cx="3413760" cy="2000250"/>
          </a:xfrm>
          <a:prstGeom prst="roundRect">
            <a:avLst>
              <a:gd name="adj" fmla="val 5079"/>
            </a:avLst>
          </a:prstGeom>
          <a:solidFill>
            <a:srgbClr val="1B5E20"/>
          </a:solidFill>
          <a:ln/>
        </p:spPr>
      </p:sp>
      <p:sp>
        <p:nvSpPr>
          <p:cNvPr id="13" name="Text 11"/>
          <p:cNvSpPr/>
          <p:nvPr/>
        </p:nvSpPr>
        <p:spPr>
          <a:xfrm>
            <a:off x="8168640" y="2026921"/>
            <a:ext cx="309758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D54F"/>
                </a:solidFill>
                <a:latin typeface="Roboto" pitchFamily="34" charset="0"/>
                <a:ea typeface="Roboto" pitchFamily="34" charset="-122"/>
                <a:cs typeface="Roboto" pitchFamily="34" charset="-120"/>
              </a:rPr>
              <a:t>1,000</a:t>
            </a:r>
            <a:endParaRPr lang="en-US" sz="4400" dirty="0"/>
          </a:p>
        </p:txBody>
      </p:sp>
      <p:sp>
        <p:nvSpPr>
          <p:cNvPr id="14" name="Text 12"/>
          <p:cNvSpPr/>
          <p:nvPr/>
        </p:nvSpPr>
        <p:spPr>
          <a:xfrm>
            <a:off x="8168640" y="2636521"/>
            <a:ext cx="3097581"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9FA"/>
                </a:solidFill>
                <a:latin typeface="Roboto" pitchFamily="34" charset="0"/>
                <a:ea typeface="Roboto" pitchFamily="34" charset="-122"/>
                <a:cs typeface="Roboto" pitchFamily="34" charset="-120"/>
              </a:rPr>
              <a:t>people we aim to reach in year one, through a pilot clinic and campus communities</a:t>
            </a:r>
            <a:endParaRPr lang="en-US" sz="1400" dirty="0"/>
          </a:p>
        </p:txBody>
      </p:sp>
      <p:sp>
        <p:nvSpPr>
          <p:cNvPr id="15" name="Text 13"/>
          <p:cNvSpPr/>
          <p:nvPr/>
        </p:nvSpPr>
        <p:spPr>
          <a:xfrm>
            <a:off x="8168640" y="3407411"/>
            <a:ext cx="30975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6C9"/>
                </a:solidFill>
                <a:latin typeface="Roboto" pitchFamily="34" charset="0"/>
                <a:ea typeface="Roboto" pitchFamily="34" charset="-122"/>
                <a:cs typeface="Roboto" pitchFamily="34" charset="-120"/>
              </a:rPr>
              <a:t>Our year-one target</a:t>
            </a:r>
            <a:endParaRPr lang="en-US" sz="1200" dirty="0"/>
          </a:p>
        </p:txBody>
      </p:sp>
      <p:sp>
        <p:nvSpPr>
          <p:cNvPr id="16" name="Shape 14"/>
          <p:cNvSpPr/>
          <p:nvPr/>
        </p:nvSpPr>
        <p:spPr>
          <a:xfrm>
            <a:off x="815975" y="4081146"/>
            <a:ext cx="3414157" cy="1355090"/>
          </a:xfrm>
          <a:prstGeom prst="roundRect">
            <a:avLst>
              <a:gd name="adj" fmla="val 7263"/>
            </a:avLst>
          </a:prstGeom>
          <a:solidFill>
            <a:srgbClr val="FFFFFF"/>
          </a:solidFill>
          <a:ln w="6350">
            <a:solidFill>
              <a:srgbClr val="E0E0E0"/>
            </a:solidFill>
            <a:prstDash val="solid"/>
          </a:ln>
        </p:spPr>
      </p:sp>
      <p:sp>
        <p:nvSpPr>
          <p:cNvPr id="17" name="Text 15"/>
          <p:cNvSpPr/>
          <p:nvPr/>
        </p:nvSpPr>
        <p:spPr>
          <a:xfrm>
            <a:off x="1021080" y="4286250"/>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F1F"/>
                </a:solidFill>
                <a:latin typeface="Roboto" pitchFamily="34" charset="0"/>
                <a:ea typeface="Roboto" pitchFamily="34" charset="-122"/>
                <a:cs typeface="Roboto" pitchFamily="34" charset="-120"/>
              </a:rPr>
              <a:t>Who we serve first</a:t>
            </a:r>
            <a:endParaRPr lang="en-US" sz="1500" dirty="0"/>
          </a:p>
        </p:txBody>
      </p:sp>
      <p:sp>
        <p:nvSpPr>
          <p:cNvPr id="18" name="Text 16"/>
          <p:cNvSpPr/>
          <p:nvPr/>
        </p:nvSpPr>
        <p:spPr>
          <a:xfrm>
            <a:off x="1021080" y="4591050"/>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Tenants, workers and land owners who need to understand a notice, a contract or their rights.</a:t>
            </a:r>
            <a:endParaRPr lang="en-US" sz="1200" dirty="0"/>
          </a:p>
        </p:txBody>
      </p:sp>
      <p:sp>
        <p:nvSpPr>
          <p:cNvPr id="19" name="Shape 17"/>
          <p:cNvSpPr/>
          <p:nvPr/>
        </p:nvSpPr>
        <p:spPr>
          <a:xfrm>
            <a:off x="4388882" y="4081146"/>
            <a:ext cx="3414236" cy="1355090"/>
          </a:xfrm>
          <a:prstGeom prst="roundRect">
            <a:avLst>
              <a:gd name="adj" fmla="val 7263"/>
            </a:avLst>
          </a:prstGeom>
          <a:solidFill>
            <a:srgbClr val="FFFFFF"/>
          </a:solidFill>
          <a:ln w="6350">
            <a:solidFill>
              <a:srgbClr val="E0E0E0"/>
            </a:solidFill>
            <a:prstDash val="solid"/>
          </a:ln>
        </p:spPr>
      </p:sp>
      <p:sp>
        <p:nvSpPr>
          <p:cNvPr id="20" name="Text 18"/>
          <p:cNvSpPr/>
          <p:nvPr/>
        </p:nvSpPr>
        <p:spPr>
          <a:xfrm>
            <a:off x="4593987" y="4286250"/>
            <a:ext cx="30941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F1F"/>
                </a:solidFill>
                <a:latin typeface="Roboto" pitchFamily="34" charset="0"/>
                <a:ea typeface="Roboto" pitchFamily="34" charset="-122"/>
                <a:cs typeface="Roboto" pitchFamily="34" charset="-120"/>
              </a:rPr>
              <a:t>Who we partner with</a:t>
            </a:r>
            <a:endParaRPr lang="en-US" sz="1500" dirty="0"/>
          </a:p>
        </p:txBody>
      </p:sp>
      <p:sp>
        <p:nvSpPr>
          <p:cNvPr id="21" name="Text 19"/>
          <p:cNvSpPr/>
          <p:nvPr/>
        </p:nvSpPr>
        <p:spPr>
          <a:xfrm>
            <a:off x="4593987" y="4591050"/>
            <a:ext cx="309414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Legal aid providers like the Uganda Law Society, which runs 22 legal aid offices across the country.</a:t>
            </a:r>
            <a:endParaRPr lang="en-US" sz="1200" dirty="0"/>
          </a:p>
        </p:txBody>
      </p:sp>
      <p:sp>
        <p:nvSpPr>
          <p:cNvPr id="22" name="Shape 20"/>
          <p:cNvSpPr/>
          <p:nvPr/>
        </p:nvSpPr>
        <p:spPr>
          <a:xfrm>
            <a:off x="7961868" y="4081146"/>
            <a:ext cx="3414157" cy="1355090"/>
          </a:xfrm>
          <a:prstGeom prst="roundRect">
            <a:avLst>
              <a:gd name="adj" fmla="val 7263"/>
            </a:avLst>
          </a:prstGeom>
          <a:solidFill>
            <a:srgbClr val="FFFFFF"/>
          </a:solidFill>
          <a:ln w="6350">
            <a:solidFill>
              <a:srgbClr val="E0E0E0"/>
            </a:solidFill>
            <a:prstDash val="solid"/>
          </a:ln>
        </p:spPr>
      </p:sp>
      <p:sp>
        <p:nvSpPr>
          <p:cNvPr id="23" name="Text 21"/>
          <p:cNvSpPr/>
          <p:nvPr/>
        </p:nvSpPr>
        <p:spPr>
          <a:xfrm>
            <a:off x="8166974" y="4286250"/>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F1F"/>
                </a:solidFill>
                <a:latin typeface="Roboto" pitchFamily="34" charset="0"/>
                <a:ea typeface="Roboto" pitchFamily="34" charset="-122"/>
                <a:cs typeface="Roboto" pitchFamily="34" charset="-120"/>
              </a:rPr>
              <a:t>Today’s alternatives</a:t>
            </a:r>
            <a:endParaRPr lang="en-US" sz="1500" dirty="0"/>
          </a:p>
        </p:txBody>
      </p:sp>
      <p:sp>
        <p:nvSpPr>
          <p:cNvPr id="24" name="Text 22"/>
          <p:cNvSpPr/>
          <p:nvPr/>
        </p:nvSpPr>
        <p:spPr>
          <a:xfrm>
            <a:off x="8166974" y="4591050"/>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A lawyer they can’t afford, a clinic far away, or a friend’s advice. We found no tool that explains the law in Luganda with sources.</a:t>
            </a:r>
            <a:endParaRPr lang="en-US" sz="1200" dirty="0"/>
          </a:p>
        </p:txBody>
      </p:sp>
      <p:sp>
        <p:nvSpPr>
          <p:cNvPr id="25" name="Text 23"/>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Sources: UBOS Census 2024 final report · UCC via Daily Monitor, 2025 · Uganda Law Society via JLOS</a:t>
            </a:r>
            <a:endParaRPr lang="en-US" sz="1200" dirty="0"/>
          </a:p>
        </p:txBody>
      </p:sp>
      <p:sp>
        <p:nvSpPr>
          <p:cNvPr id="26" name="Text 24"/>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BUSINESS MODEL</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Free for citizens. Paid by partners.</a:t>
            </a:r>
            <a:endParaRPr lang="en-US" sz="3200" dirty="0"/>
          </a:p>
        </p:txBody>
      </p:sp>
      <p:sp>
        <p:nvSpPr>
          <p:cNvPr id="4" name="Shape 2"/>
          <p:cNvSpPr/>
          <p:nvPr/>
        </p:nvSpPr>
        <p:spPr>
          <a:xfrm>
            <a:off x="815975" y="1826896"/>
            <a:ext cx="5200650" cy="1515110"/>
          </a:xfrm>
          <a:prstGeom prst="roundRect">
            <a:avLst>
              <a:gd name="adj" fmla="val 6496"/>
            </a:avLst>
          </a:prstGeom>
          <a:solidFill>
            <a:srgbClr val="FFFFFF"/>
          </a:solidFill>
          <a:ln w="6350">
            <a:solidFill>
              <a:srgbClr val="E0E0E0"/>
            </a:solidFill>
            <a:prstDash val="solid"/>
          </a:ln>
        </p:spPr>
      </p:sp>
      <p:pic>
        <p:nvPicPr>
          <p:cNvPr id="5" name="Image 0" descr="Users">    </p:cNvPr>
          <p:cNvPicPr>
            <a:picLocks noChangeAspect="1"/>
          </p:cNvPicPr>
          <p:nvPr/>
        </p:nvPicPr>
        <p:blipFill>
          <a:blip r:embed="rId1"/>
          <a:srcRect l="0" r="0" t="0" b="0"/>
          <a:stretch/>
        </p:blipFill>
        <p:spPr>
          <a:xfrm>
            <a:off x="1021080" y="2034542"/>
            <a:ext cx="254000" cy="254000"/>
          </a:xfrm>
          <a:prstGeom prst="rect">
            <a:avLst/>
          </a:prstGeom>
        </p:spPr>
      </p:pic>
      <p:sp>
        <p:nvSpPr>
          <p:cNvPr id="6" name="Text 3"/>
          <p:cNvSpPr/>
          <p:nvPr/>
        </p:nvSpPr>
        <p:spPr>
          <a:xfrm>
            <a:off x="1376680" y="2032000"/>
            <a:ext cx="158372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1F1F"/>
                </a:solidFill>
                <a:latin typeface="Roboto" pitchFamily="34" charset="0"/>
                <a:ea typeface="Roboto" pitchFamily="34" charset="-122"/>
                <a:cs typeface="Roboto" pitchFamily="34" charset="-120"/>
              </a:rPr>
              <a:t>Free core app</a:t>
            </a:r>
            <a:endParaRPr lang="en-US" sz="1700" dirty="0"/>
          </a:p>
        </p:txBody>
      </p:sp>
      <p:sp>
        <p:nvSpPr>
          <p:cNvPr id="7" name="Text 4"/>
          <p:cNvSpPr/>
          <p:nvPr/>
        </p:nvSpPr>
        <p:spPr>
          <a:xfrm>
            <a:off x="1021080" y="2367279"/>
            <a:ext cx="493415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368"/>
                </a:solidFill>
                <a:latin typeface="Roboto" pitchFamily="34" charset="0"/>
                <a:ea typeface="Roboto" pitchFamily="34" charset="-122"/>
                <a:cs typeface="Roboto" pitchFamily="34" charset="-120"/>
              </a:rPr>
              <a:t>Anyone can scan documents, ask questions and draft letters at no cost. This builds reach and trust.</a:t>
            </a:r>
            <a:endParaRPr lang="en-US" sz="1300" dirty="0"/>
          </a:p>
        </p:txBody>
      </p:sp>
      <p:sp>
        <p:nvSpPr>
          <p:cNvPr id="8" name="Text 5"/>
          <p:cNvSpPr/>
          <p:nvPr/>
        </p:nvSpPr>
        <p:spPr>
          <a:xfrm>
            <a:off x="1021080" y="2905764"/>
            <a:ext cx="49341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5E20"/>
                </a:solidFill>
                <a:latin typeface="Roboto" pitchFamily="34" charset="0"/>
                <a:ea typeface="Roboto" pitchFamily="34" charset="-122"/>
                <a:cs typeface="Roboto" pitchFamily="34" charset="-120"/>
              </a:rPr>
              <a:t>UGX 0 for citizens</a:t>
            </a:r>
            <a:endParaRPr lang="en-US" sz="1300" dirty="0"/>
          </a:p>
        </p:txBody>
      </p:sp>
      <p:sp>
        <p:nvSpPr>
          <p:cNvPr id="9" name="Shape 6"/>
          <p:cNvSpPr/>
          <p:nvPr/>
        </p:nvSpPr>
        <p:spPr>
          <a:xfrm>
            <a:off x="6175375" y="1826896"/>
            <a:ext cx="5200650" cy="1515110"/>
          </a:xfrm>
          <a:prstGeom prst="roundRect">
            <a:avLst>
              <a:gd name="adj" fmla="val 6496"/>
            </a:avLst>
          </a:prstGeom>
          <a:solidFill>
            <a:srgbClr val="FFFFFF"/>
          </a:solidFill>
          <a:ln w="6350">
            <a:solidFill>
              <a:srgbClr val="E0E0E0"/>
            </a:solidFill>
            <a:prstDash val="solid"/>
          </a:ln>
        </p:spPr>
      </p:sp>
      <p:pic>
        <p:nvPicPr>
          <p:cNvPr id="10" name="Image 1" descr="Trust">    </p:cNvPr>
          <p:cNvPicPr>
            <a:picLocks noChangeAspect="1"/>
          </p:cNvPicPr>
          <p:nvPr/>
        </p:nvPicPr>
        <p:blipFill>
          <a:blip r:embed="rId2"/>
          <a:srcRect l="0" r="0" t="0" b="0"/>
          <a:stretch/>
        </p:blipFill>
        <p:spPr>
          <a:xfrm>
            <a:off x="6380480" y="2034542"/>
            <a:ext cx="254000" cy="254000"/>
          </a:xfrm>
          <a:prstGeom prst="rect">
            <a:avLst/>
          </a:prstGeom>
        </p:spPr>
      </p:pic>
      <p:sp>
        <p:nvSpPr>
          <p:cNvPr id="11" name="Text 7"/>
          <p:cNvSpPr/>
          <p:nvPr/>
        </p:nvSpPr>
        <p:spPr>
          <a:xfrm>
            <a:off x="6736080" y="2032000"/>
            <a:ext cx="253307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1F1F"/>
                </a:solidFill>
                <a:latin typeface="Roboto" pitchFamily="34" charset="0"/>
                <a:ea typeface="Roboto" pitchFamily="34" charset="-122"/>
                <a:cs typeface="Roboto" pitchFamily="34" charset="-120"/>
              </a:rPr>
              <a:t>Legal aid partner plan</a:t>
            </a:r>
            <a:endParaRPr lang="en-US" sz="1700" dirty="0"/>
          </a:p>
        </p:txBody>
      </p:sp>
      <p:sp>
        <p:nvSpPr>
          <p:cNvPr id="12" name="Text 8"/>
          <p:cNvSpPr/>
          <p:nvPr/>
        </p:nvSpPr>
        <p:spPr>
          <a:xfrm>
            <a:off x="6380480" y="2367279"/>
            <a:ext cx="493415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368"/>
                </a:solidFill>
                <a:latin typeface="Roboto" pitchFamily="34" charset="0"/>
                <a:ea typeface="Roboto" pitchFamily="34" charset="-122"/>
                <a:cs typeface="Roboto" pitchFamily="34" charset="-120"/>
              </a:rPr>
              <a:t>Clinics and NGOs get a branded intake page and a dashboard of pre-sorted cases, so lawyers spend time where it matters most.</a:t>
            </a:r>
            <a:endParaRPr lang="en-US" sz="1300" dirty="0"/>
          </a:p>
        </p:txBody>
      </p:sp>
      <p:sp>
        <p:nvSpPr>
          <p:cNvPr id="13" name="Text 9"/>
          <p:cNvSpPr/>
          <p:nvPr/>
        </p:nvSpPr>
        <p:spPr>
          <a:xfrm>
            <a:off x="6380480" y="2905764"/>
            <a:ext cx="49341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5E20"/>
                </a:solidFill>
                <a:latin typeface="Roboto" pitchFamily="34" charset="0"/>
                <a:ea typeface="Roboto" pitchFamily="34" charset="-122"/>
                <a:cs typeface="Roboto" pitchFamily="34" charset="-120"/>
              </a:rPr>
              <a:t>Proposed: UGX 200,000 per month per organisation</a:t>
            </a:r>
            <a:endParaRPr lang="en-US" sz="1300" dirty="0"/>
          </a:p>
        </p:txBody>
      </p:sp>
      <p:sp>
        <p:nvSpPr>
          <p:cNvPr id="14" name="Shape 10"/>
          <p:cNvSpPr/>
          <p:nvPr/>
        </p:nvSpPr>
        <p:spPr>
          <a:xfrm>
            <a:off x="815975" y="3500754"/>
            <a:ext cx="5200650" cy="1515110"/>
          </a:xfrm>
          <a:prstGeom prst="roundRect">
            <a:avLst>
              <a:gd name="adj" fmla="val 6496"/>
            </a:avLst>
          </a:prstGeom>
          <a:solidFill>
            <a:srgbClr val="FFFFFF"/>
          </a:solidFill>
          <a:ln w="6350">
            <a:solidFill>
              <a:srgbClr val="E0E0E0"/>
            </a:solidFill>
            <a:prstDash val="solid"/>
          </a:ln>
        </p:spPr>
      </p:sp>
      <p:pic>
        <p:nvPicPr>
          <p:cNvPr id="15" name="Image 2" descr="Verified">    </p:cNvPr>
          <p:cNvPicPr>
            <a:picLocks noChangeAspect="1"/>
          </p:cNvPicPr>
          <p:nvPr/>
        </p:nvPicPr>
        <p:blipFill>
          <a:blip r:embed="rId3"/>
          <a:srcRect l="0" r="0" t="0" b="0"/>
          <a:stretch/>
        </p:blipFill>
        <p:spPr>
          <a:xfrm>
            <a:off x="1021080" y="3708400"/>
            <a:ext cx="254000" cy="254000"/>
          </a:xfrm>
          <a:prstGeom prst="rect">
            <a:avLst/>
          </a:prstGeom>
        </p:spPr>
      </p:pic>
      <p:sp>
        <p:nvSpPr>
          <p:cNvPr id="16" name="Text 11"/>
          <p:cNvSpPr/>
          <p:nvPr/>
        </p:nvSpPr>
        <p:spPr>
          <a:xfrm>
            <a:off x="1376680" y="3705864"/>
            <a:ext cx="192176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1F1F"/>
                </a:solidFill>
                <a:latin typeface="Roboto" pitchFamily="34" charset="0"/>
                <a:ea typeface="Roboto" pitchFamily="34" charset="-122"/>
                <a:cs typeface="Roboto" pitchFamily="34" charset="-120"/>
              </a:rPr>
              <a:t>Advocate review</a:t>
            </a:r>
            <a:endParaRPr lang="en-US" sz="1700" dirty="0"/>
          </a:p>
        </p:txBody>
      </p:sp>
      <p:sp>
        <p:nvSpPr>
          <p:cNvPr id="17" name="Text 12"/>
          <p:cNvSpPr/>
          <p:nvPr/>
        </p:nvSpPr>
        <p:spPr>
          <a:xfrm>
            <a:off x="1021080" y="4041142"/>
            <a:ext cx="493415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368"/>
                </a:solidFill>
                <a:latin typeface="Roboto" pitchFamily="34" charset="0"/>
                <a:ea typeface="Roboto" pitchFamily="34" charset="-122"/>
                <a:cs typeface="Roboto" pitchFamily="34" charset="-120"/>
              </a:rPr>
              <a:t>A user pays a small fee by mobile money to have a partner advocate check their letter before sending it.</a:t>
            </a:r>
            <a:endParaRPr lang="en-US" sz="1300" dirty="0"/>
          </a:p>
        </p:txBody>
      </p:sp>
      <p:sp>
        <p:nvSpPr>
          <p:cNvPr id="18" name="Text 13"/>
          <p:cNvSpPr/>
          <p:nvPr/>
        </p:nvSpPr>
        <p:spPr>
          <a:xfrm>
            <a:off x="1021080" y="4579621"/>
            <a:ext cx="49341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5E20"/>
                </a:solidFill>
                <a:latin typeface="Roboto" pitchFamily="34" charset="0"/>
                <a:ea typeface="Roboto" pitchFamily="34" charset="-122"/>
                <a:cs typeface="Roboto" pitchFamily="34" charset="-120"/>
              </a:rPr>
              <a:t>Proposed: UGX 20,000 per review, Eddembe keeps 20%</a:t>
            </a:r>
            <a:endParaRPr lang="en-US" sz="1300" dirty="0"/>
          </a:p>
        </p:txBody>
      </p:sp>
      <p:sp>
        <p:nvSpPr>
          <p:cNvPr id="19" name="Shape 14"/>
          <p:cNvSpPr/>
          <p:nvPr/>
        </p:nvSpPr>
        <p:spPr>
          <a:xfrm>
            <a:off x="6175375" y="3500754"/>
            <a:ext cx="5200650" cy="1515110"/>
          </a:xfrm>
          <a:prstGeom prst="roundRect">
            <a:avLst>
              <a:gd name="adj" fmla="val 6496"/>
            </a:avLst>
          </a:prstGeom>
          <a:solidFill>
            <a:srgbClr val="FFFFFF"/>
          </a:solidFill>
          <a:ln w="6350">
            <a:solidFill>
              <a:srgbClr val="E0E0E0"/>
            </a:solidFill>
            <a:prstDash val="solid"/>
          </a:ln>
        </p:spPr>
      </p:sp>
      <p:pic>
        <p:nvPicPr>
          <p:cNvPr id="20" name="Image 3" descr="Lightbulb">    </p:cNvPr>
          <p:cNvPicPr>
            <a:picLocks noChangeAspect="1"/>
          </p:cNvPicPr>
          <p:nvPr/>
        </p:nvPicPr>
        <p:blipFill>
          <a:blip r:embed="rId4"/>
          <a:srcRect l="0" r="0" t="0" b="0"/>
          <a:stretch/>
        </p:blipFill>
        <p:spPr>
          <a:xfrm>
            <a:off x="6380480" y="3708400"/>
            <a:ext cx="254000" cy="254000"/>
          </a:xfrm>
          <a:prstGeom prst="rect">
            <a:avLst/>
          </a:prstGeom>
        </p:spPr>
      </p:pic>
      <p:sp>
        <p:nvSpPr>
          <p:cNvPr id="21" name="Text 15"/>
          <p:cNvSpPr/>
          <p:nvPr/>
        </p:nvSpPr>
        <p:spPr>
          <a:xfrm>
            <a:off x="6736080" y="3705864"/>
            <a:ext cx="281254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1F1F"/>
                </a:solidFill>
                <a:latin typeface="Roboto" pitchFamily="34" charset="0"/>
                <a:ea typeface="Roboto" pitchFamily="34" charset="-122"/>
                <a:cs typeface="Roboto" pitchFamily="34" charset="-120"/>
              </a:rPr>
              <a:t>Grants and programmes</a:t>
            </a:r>
            <a:endParaRPr lang="en-US" sz="1700" dirty="0"/>
          </a:p>
        </p:txBody>
      </p:sp>
      <p:sp>
        <p:nvSpPr>
          <p:cNvPr id="22" name="Text 16"/>
          <p:cNvSpPr/>
          <p:nvPr/>
        </p:nvSpPr>
        <p:spPr>
          <a:xfrm>
            <a:off x="6380480" y="4041142"/>
            <a:ext cx="493415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368"/>
                </a:solidFill>
                <a:latin typeface="Roboto" pitchFamily="34" charset="0"/>
                <a:ea typeface="Roboto" pitchFamily="34" charset="-122"/>
                <a:cs typeface="Roboto" pitchFamily="34" charset="-120"/>
              </a:rPr>
              <a:t>Access-to-justice and digital inclusion funders, plus government legal awareness programmes.</a:t>
            </a:r>
            <a:endParaRPr lang="en-US" sz="1300" dirty="0"/>
          </a:p>
        </p:txBody>
      </p:sp>
      <p:sp>
        <p:nvSpPr>
          <p:cNvPr id="23" name="Text 17"/>
          <p:cNvSpPr/>
          <p:nvPr/>
        </p:nvSpPr>
        <p:spPr>
          <a:xfrm>
            <a:off x="6380480" y="4579621"/>
            <a:ext cx="49341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5E20"/>
                </a:solidFill>
                <a:latin typeface="Roboto" pitchFamily="34" charset="0"/>
                <a:ea typeface="Roboto" pitchFamily="34" charset="-122"/>
                <a:cs typeface="Roboto" pitchFamily="34" charset="-120"/>
              </a:rPr>
              <a:t>Grants and service contracts</a:t>
            </a:r>
            <a:endParaRPr lang="en-US" sz="1300" dirty="0"/>
          </a:p>
        </p:txBody>
      </p:sp>
      <p:sp>
        <p:nvSpPr>
          <p:cNvPr id="24" name="Text 18"/>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FUNCTIONALITY AND TRACTION</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Built and working, ready to demo</a:t>
            </a:r>
            <a:endParaRPr lang="en-US" sz="3200" dirty="0"/>
          </a:p>
        </p:txBody>
      </p:sp>
      <p:sp>
        <p:nvSpPr>
          <p:cNvPr id="4" name="Shape 2"/>
          <p:cNvSpPr/>
          <p:nvPr/>
        </p:nvSpPr>
        <p:spPr>
          <a:xfrm>
            <a:off x="815975" y="1826896"/>
            <a:ext cx="2520950" cy="1414780"/>
          </a:xfrm>
          <a:prstGeom prst="roundRect">
            <a:avLst>
              <a:gd name="adj" fmla="val 6957"/>
            </a:avLst>
          </a:prstGeom>
          <a:solidFill>
            <a:srgbClr val="FFFFFF"/>
          </a:solidFill>
          <a:ln w="6350">
            <a:solidFill>
              <a:srgbClr val="E0E0E0"/>
            </a:solidFill>
            <a:prstDash val="solid"/>
          </a:ln>
        </p:spPr>
      </p:sp>
      <p:sp>
        <p:nvSpPr>
          <p:cNvPr id="5" name="Text 3"/>
          <p:cNvSpPr/>
          <p:nvPr/>
        </p:nvSpPr>
        <p:spPr>
          <a:xfrm>
            <a:off x="1021080" y="2032000"/>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B5E20"/>
                </a:solidFill>
                <a:latin typeface="Roboto" pitchFamily="34" charset="0"/>
                <a:ea typeface="Roboto" pitchFamily="34" charset="-122"/>
                <a:cs typeface="Roboto" pitchFamily="34" charset="-120"/>
              </a:rPr>
              <a:t>1 day</a:t>
            </a:r>
            <a:endParaRPr lang="en-US" sz="4000" dirty="0"/>
          </a:p>
        </p:txBody>
      </p:sp>
      <p:sp>
        <p:nvSpPr>
          <p:cNvPr id="6" name="Text 4"/>
          <p:cNvSpPr/>
          <p:nvPr/>
        </p:nvSpPr>
        <p:spPr>
          <a:xfrm>
            <a:off x="1021080" y="2590800"/>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F6368"/>
                </a:solidFill>
                <a:latin typeface="Roboto" pitchFamily="34" charset="0"/>
                <a:ea typeface="Roboto" pitchFamily="34" charset="-122"/>
                <a:cs typeface="Roboto" pitchFamily="34" charset="-120"/>
              </a:rPr>
              <a:t>to build a working prototype at the Hack Day</a:t>
            </a:r>
            <a:endParaRPr lang="en-US" sz="1300" dirty="0"/>
          </a:p>
        </p:txBody>
      </p:sp>
      <p:sp>
        <p:nvSpPr>
          <p:cNvPr id="7" name="Shape 5"/>
          <p:cNvSpPr/>
          <p:nvPr/>
        </p:nvSpPr>
        <p:spPr>
          <a:xfrm>
            <a:off x="3495675" y="1826896"/>
            <a:ext cx="2520950" cy="1414780"/>
          </a:xfrm>
          <a:prstGeom prst="roundRect">
            <a:avLst>
              <a:gd name="adj" fmla="val 6957"/>
            </a:avLst>
          </a:prstGeom>
          <a:solidFill>
            <a:srgbClr val="FFFFFF"/>
          </a:solidFill>
          <a:ln w="6350">
            <a:solidFill>
              <a:srgbClr val="E0E0E0"/>
            </a:solidFill>
            <a:prstDash val="solid"/>
          </a:ln>
        </p:spPr>
      </p:sp>
      <p:sp>
        <p:nvSpPr>
          <p:cNvPr id="8" name="Text 6"/>
          <p:cNvSpPr/>
          <p:nvPr/>
        </p:nvSpPr>
        <p:spPr>
          <a:xfrm>
            <a:off x="3700780" y="2032000"/>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B5E20"/>
                </a:solidFill>
                <a:latin typeface="Roboto" pitchFamily="34" charset="0"/>
                <a:ea typeface="Roboto" pitchFamily="34" charset="-122"/>
                <a:cs typeface="Roboto" pitchFamily="34" charset="-120"/>
              </a:rPr>
              <a:t>6</a:t>
            </a:r>
            <a:endParaRPr lang="en-US" sz="4000" dirty="0"/>
          </a:p>
        </p:txBody>
      </p:sp>
      <p:sp>
        <p:nvSpPr>
          <p:cNvPr id="9" name="Text 7"/>
          <p:cNvSpPr/>
          <p:nvPr/>
        </p:nvSpPr>
        <p:spPr>
          <a:xfrm>
            <a:off x="3700780" y="2590800"/>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F6368"/>
                </a:solidFill>
                <a:latin typeface="Roboto" pitchFamily="34" charset="0"/>
                <a:ea typeface="Roboto" pitchFamily="34" charset="-122"/>
                <a:cs typeface="Roboto" pitchFamily="34" charset="-120"/>
              </a:rPr>
              <a:t>Ugandan legal texts indexed and searchable</a:t>
            </a:r>
            <a:endParaRPr lang="en-US" sz="1300" dirty="0"/>
          </a:p>
        </p:txBody>
      </p:sp>
      <p:sp>
        <p:nvSpPr>
          <p:cNvPr id="10" name="Shape 8"/>
          <p:cNvSpPr/>
          <p:nvPr/>
        </p:nvSpPr>
        <p:spPr>
          <a:xfrm>
            <a:off x="6175375" y="1826896"/>
            <a:ext cx="2520950" cy="1414780"/>
          </a:xfrm>
          <a:prstGeom prst="roundRect">
            <a:avLst>
              <a:gd name="adj" fmla="val 6957"/>
            </a:avLst>
          </a:prstGeom>
          <a:solidFill>
            <a:srgbClr val="FFFFFF"/>
          </a:solidFill>
          <a:ln w="6350">
            <a:solidFill>
              <a:srgbClr val="E0E0E0"/>
            </a:solidFill>
            <a:prstDash val="solid"/>
          </a:ln>
        </p:spPr>
      </p:sp>
      <p:sp>
        <p:nvSpPr>
          <p:cNvPr id="11" name="Text 9"/>
          <p:cNvSpPr/>
          <p:nvPr/>
        </p:nvSpPr>
        <p:spPr>
          <a:xfrm>
            <a:off x="6380480" y="2032000"/>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B5E20"/>
                </a:solidFill>
                <a:latin typeface="Roboto" pitchFamily="34" charset="0"/>
                <a:ea typeface="Roboto" pitchFamily="34" charset="-122"/>
                <a:cs typeface="Roboto" pitchFamily="34" charset="-120"/>
              </a:rPr>
              <a:t>3</a:t>
            </a:r>
            <a:endParaRPr lang="en-US" sz="4000" dirty="0"/>
          </a:p>
        </p:txBody>
      </p:sp>
      <p:sp>
        <p:nvSpPr>
          <p:cNvPr id="12" name="Text 10"/>
          <p:cNvSpPr/>
          <p:nvPr/>
        </p:nvSpPr>
        <p:spPr>
          <a:xfrm>
            <a:off x="6380480" y="2590800"/>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F6368"/>
                </a:solidFill>
                <a:latin typeface="Roboto" pitchFamily="34" charset="0"/>
                <a:ea typeface="Roboto" pitchFamily="34" charset="-122"/>
                <a:cs typeface="Roboto" pitchFamily="34" charset="-120"/>
              </a:rPr>
              <a:t>jobs Gemma 4 does: read, answer, write</a:t>
            </a:r>
            <a:endParaRPr lang="en-US" sz="1300" dirty="0"/>
          </a:p>
        </p:txBody>
      </p:sp>
      <p:sp>
        <p:nvSpPr>
          <p:cNvPr id="13" name="Shape 11"/>
          <p:cNvSpPr/>
          <p:nvPr/>
        </p:nvSpPr>
        <p:spPr>
          <a:xfrm>
            <a:off x="8855075" y="1826896"/>
            <a:ext cx="2520950" cy="1414780"/>
          </a:xfrm>
          <a:prstGeom prst="roundRect">
            <a:avLst>
              <a:gd name="adj" fmla="val 6957"/>
            </a:avLst>
          </a:prstGeom>
          <a:solidFill>
            <a:srgbClr val="FFFFFF"/>
          </a:solidFill>
          <a:ln w="6350">
            <a:solidFill>
              <a:srgbClr val="E0E0E0"/>
            </a:solidFill>
            <a:prstDash val="solid"/>
          </a:ln>
        </p:spPr>
      </p:sp>
      <p:sp>
        <p:nvSpPr>
          <p:cNvPr id="14" name="Text 12"/>
          <p:cNvSpPr/>
          <p:nvPr/>
        </p:nvSpPr>
        <p:spPr>
          <a:xfrm>
            <a:off x="9060180" y="2032000"/>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B5E20"/>
                </a:solidFill>
                <a:latin typeface="Roboto" pitchFamily="34" charset="0"/>
                <a:ea typeface="Roboto" pitchFamily="34" charset="-122"/>
                <a:cs typeface="Roboto" pitchFamily="34" charset="-120"/>
              </a:rPr>
              <a:t>2</a:t>
            </a:r>
            <a:endParaRPr lang="en-US" sz="4000" dirty="0"/>
          </a:p>
        </p:txBody>
      </p:sp>
      <p:sp>
        <p:nvSpPr>
          <p:cNvPr id="15" name="Text 13"/>
          <p:cNvSpPr/>
          <p:nvPr/>
        </p:nvSpPr>
        <p:spPr>
          <a:xfrm>
            <a:off x="9060180" y="2590800"/>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F6368"/>
                </a:solidFill>
                <a:latin typeface="Roboto" pitchFamily="34" charset="0"/>
                <a:ea typeface="Roboto" pitchFamily="34" charset="-122"/>
                <a:cs typeface="Roboto" pitchFamily="34" charset="-120"/>
              </a:rPr>
              <a:t>languages: English and Luganda</a:t>
            </a:r>
            <a:endParaRPr lang="en-US" sz="1300" dirty="0"/>
          </a:p>
        </p:txBody>
      </p:sp>
      <p:sp>
        <p:nvSpPr>
          <p:cNvPr id="16" name="Shape 14"/>
          <p:cNvSpPr/>
          <p:nvPr/>
        </p:nvSpPr>
        <p:spPr>
          <a:xfrm>
            <a:off x="812800" y="3498850"/>
            <a:ext cx="5201920" cy="1645920"/>
          </a:xfrm>
          <a:prstGeom prst="roundRect">
            <a:avLst>
              <a:gd name="adj" fmla="val 6173"/>
            </a:avLst>
          </a:prstGeom>
          <a:solidFill>
            <a:srgbClr val="E8F5E9"/>
          </a:solidFill>
          <a:ln/>
        </p:spPr>
      </p:sp>
      <p:sp>
        <p:nvSpPr>
          <p:cNvPr id="17" name="Text 15"/>
          <p:cNvSpPr/>
          <p:nvPr/>
        </p:nvSpPr>
        <p:spPr>
          <a:xfrm>
            <a:off x="1016000" y="3702050"/>
            <a:ext cx="49393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5E20"/>
                </a:solidFill>
                <a:latin typeface="Roboto" pitchFamily="34" charset="0"/>
                <a:ea typeface="Roboto" pitchFamily="34" charset="-122"/>
                <a:cs typeface="Roboto" pitchFamily="34" charset="-120"/>
              </a:rPr>
              <a:t>What works today</a:t>
            </a:r>
            <a:endParaRPr lang="en-US" sz="1500" dirty="0"/>
          </a:p>
        </p:txBody>
      </p:sp>
      <p:sp>
        <p:nvSpPr>
          <p:cNvPr id="18" name="Text 16"/>
          <p:cNvSpPr/>
          <p:nvPr/>
        </p:nvSpPr>
        <p:spPr>
          <a:xfrm>
            <a:off x="1120394" y="4006850"/>
            <a:ext cx="4827372" cy="949960"/>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Scan and explain legal documents</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Luganda voice questions with transcription</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Answers with law and section references</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Letters to copy or download</a:t>
            </a:r>
            <a:endParaRPr lang="en-US" sz="1300" dirty="0"/>
          </a:p>
        </p:txBody>
      </p:sp>
      <p:sp>
        <p:nvSpPr>
          <p:cNvPr id="19" name="Shape 17"/>
          <p:cNvSpPr/>
          <p:nvPr/>
        </p:nvSpPr>
        <p:spPr>
          <a:xfrm>
            <a:off x="6170295" y="3502025"/>
            <a:ext cx="5205730" cy="1639570"/>
          </a:xfrm>
          <a:prstGeom prst="roundRect">
            <a:avLst>
              <a:gd name="adj" fmla="val 6003"/>
            </a:avLst>
          </a:prstGeom>
          <a:solidFill>
            <a:srgbClr val="FFFFFF"/>
          </a:solidFill>
          <a:ln w="6350">
            <a:solidFill>
              <a:srgbClr val="E0E0E0"/>
            </a:solidFill>
            <a:prstDash val="solid"/>
          </a:ln>
        </p:spPr>
      </p:sp>
      <p:sp>
        <p:nvSpPr>
          <p:cNvPr id="20" name="Text 18"/>
          <p:cNvSpPr/>
          <p:nvPr/>
        </p:nvSpPr>
        <p:spPr>
          <a:xfrm>
            <a:off x="6375400" y="3707129"/>
            <a:ext cx="49393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F1F"/>
                </a:solidFill>
                <a:latin typeface="Roboto" pitchFamily="34" charset="0"/>
                <a:ea typeface="Roboto" pitchFamily="34" charset="-122"/>
                <a:cs typeface="Roboto" pitchFamily="34" charset="-120"/>
              </a:rPr>
              <a:t>Live demo, 2 minutes</a:t>
            </a:r>
            <a:endParaRPr lang="en-US" sz="1500" dirty="0"/>
          </a:p>
        </p:txBody>
      </p:sp>
      <p:sp>
        <p:nvSpPr>
          <p:cNvPr id="21" name="Text 19"/>
          <p:cNvSpPr/>
          <p:nvPr/>
        </p:nvSpPr>
        <p:spPr>
          <a:xfrm>
            <a:off x="6452076" y="4011929"/>
            <a:ext cx="4855089" cy="949960"/>
          </a:xfrm>
          <a:prstGeom prst="rect">
            <a:avLst/>
          </a:prstGeom>
          <a:noFill/>
          <a:ln/>
        </p:spPr>
        <p:txBody>
          <a:bodyPr wrap="square" lIns="0" tIns="0" rIns="0" bIns="0" rtlCol="0" anchor="t">
            <a:normAutofit/>
          </a:bodyPr>
          <a:lstStyle/>
          <a:p>
            <a:pPr algn="l" marL="177324" indent="-177324">
              <a:lnSpc>
                <a:spcPts val="1820"/>
              </a:lnSpc>
              <a:buSzPct val="100000"/>
              <a:buFontTx/>
              <a:buAutoNum type="arabicPeriod" startAt="1"/>
            </a:pPr>
            <a:r>
              <a:rPr lang="en-US" sz="1300" dirty="0">
                <a:solidFill>
                  <a:srgbClr val="1F1F1F"/>
                </a:solidFill>
                <a:latin typeface="Roboto" pitchFamily="34" charset="0"/>
                <a:ea typeface="Roboto" pitchFamily="34" charset="-122"/>
                <a:cs typeface="Roboto" pitchFamily="34" charset="-120"/>
              </a:rPr>
              <a:t>Scan the sample eviction notice</a:t>
            </a:r>
            <a:endParaRPr lang="en-US" sz="1300" dirty="0"/>
          </a:p>
          <a:p>
            <a:pPr algn="l" marL="177324" indent="-177324">
              <a:lnSpc>
                <a:spcPts val="1820"/>
              </a:lnSpc>
              <a:buSzPct val="100000"/>
              <a:buFontTx/>
              <a:buAutoNum type="arabicPeriod" startAt="1"/>
            </a:pPr>
            <a:r>
              <a:rPr lang="en-US" sz="1300" dirty="0">
                <a:solidFill>
                  <a:srgbClr val="1F1F1F"/>
                </a:solidFill>
                <a:latin typeface="Roboto" pitchFamily="34" charset="0"/>
                <a:ea typeface="Roboto" pitchFamily="34" charset="-122"/>
                <a:cs typeface="Roboto" pitchFamily="34" charset="-120"/>
              </a:rPr>
              <a:t>Ask in Luganda by voice</a:t>
            </a:r>
            <a:endParaRPr lang="en-US" sz="1300" dirty="0"/>
          </a:p>
          <a:p>
            <a:pPr algn="l" marL="177324" indent="-177324">
              <a:lnSpc>
                <a:spcPts val="1820"/>
              </a:lnSpc>
              <a:buSzPct val="100000"/>
              <a:buFontTx/>
              <a:buAutoNum type="arabicPeriod" startAt="1"/>
            </a:pPr>
            <a:r>
              <a:rPr lang="en-US" sz="1300" dirty="0">
                <a:solidFill>
                  <a:srgbClr val="1F1F1F"/>
                </a:solidFill>
                <a:latin typeface="Roboto" pitchFamily="34" charset="0"/>
                <a:ea typeface="Roboto" pitchFamily="34" charset="-122"/>
                <a:cs typeface="Roboto" pitchFamily="34" charset="-120"/>
              </a:rPr>
              <a:t>Show the answer and its sections</a:t>
            </a:r>
            <a:endParaRPr lang="en-US" sz="1300" dirty="0"/>
          </a:p>
          <a:p>
            <a:pPr algn="l" marL="177324" indent="-177324">
              <a:lnSpc>
                <a:spcPts val="1820"/>
              </a:lnSpc>
              <a:buSzPct val="100000"/>
              <a:buFontTx/>
              <a:buAutoNum type="arabicPeriod" startAt="1"/>
            </a:pPr>
            <a:r>
              <a:rPr lang="en-US" sz="1300" dirty="0">
                <a:solidFill>
                  <a:srgbClr val="1F1F1F"/>
                </a:solidFill>
                <a:latin typeface="Roboto" pitchFamily="34" charset="0"/>
                <a:ea typeface="Roboto" pitchFamily="34" charset="-122"/>
                <a:cs typeface="Roboto" pitchFamily="34" charset="-120"/>
              </a:rPr>
              <a:t>Generate and download the letter</a:t>
            </a:r>
            <a:endParaRPr lang="en-US" sz="1300" dirty="0"/>
          </a:p>
        </p:txBody>
      </p:sp>
      <p:sp>
        <p:nvSpPr>
          <p:cNvPr id="22" name="Text 20"/>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5E20"/>
                </a:solidFill>
                <a:latin typeface="Roboto" pitchFamily="34" charset="0"/>
                <a:ea typeface="Roboto" pitchFamily="34" charset="-122"/>
                <a:cs typeface="Roboto" pitchFamily="34" charset="-120"/>
              </a:rPr>
              <a:t>FUTURE PLAN</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1F1F"/>
                </a:solidFill>
                <a:latin typeface="Roboto" pitchFamily="34" charset="0"/>
                <a:ea typeface="Roboto" pitchFamily="34" charset="-122"/>
                <a:cs typeface="Roboto" pitchFamily="34" charset="-120"/>
              </a:rPr>
              <a:t>From Kampala to East Africa</a:t>
            </a:r>
            <a:endParaRPr lang="en-US" sz="3200" dirty="0"/>
          </a:p>
        </p:txBody>
      </p:sp>
      <p:sp>
        <p:nvSpPr>
          <p:cNvPr id="4" name="Shape 2"/>
          <p:cNvSpPr/>
          <p:nvPr/>
        </p:nvSpPr>
        <p:spPr>
          <a:xfrm>
            <a:off x="812800" y="1823721"/>
            <a:ext cx="3420507" cy="3078480"/>
          </a:xfrm>
          <a:prstGeom prst="roundRect">
            <a:avLst>
              <a:gd name="adj" fmla="val 3300"/>
            </a:avLst>
          </a:prstGeom>
          <a:solidFill>
            <a:srgbClr val="FFFFFF"/>
          </a:solidFill>
          <a:ln/>
        </p:spPr>
      </p:sp>
      <p:sp>
        <p:nvSpPr>
          <p:cNvPr id="5" name="Shape 3"/>
          <p:cNvSpPr/>
          <p:nvPr/>
        </p:nvSpPr>
        <p:spPr>
          <a:xfrm>
            <a:off x="812800" y="1823721"/>
            <a:ext cx="3420507" cy="3078480"/>
          </a:xfrm>
          <a:custGeom>
            <a:avLst/>
            <a:gdLst/>
            <a:ahLst/>
            <a:cxnLst/>
            <a:rect l="l" t="t" r="r" b="b"/>
            <a:pathLst>
              <a:path w="3420507" h="3078480">
                <a:moveTo>
                  <a:pt x="0" y="101600"/>
                </a:moveTo>
                <a:lnTo>
                  <a:pt x="0" y="101600"/>
                </a:lnTo>
                <a:arcTo hR="101600" wR="101600" stAng="10800000" swAng="5400000"/>
                <a:lnTo>
                  <a:pt x="3318907" y="0"/>
                </a:lnTo>
                <a:arcTo hR="101600" wR="101600" stAng="16200000" swAng="5400000"/>
                <a:lnTo>
                  <a:pt x="3420507" y="101600"/>
                </a:lnTo>
                <a:arcTo hR="50800" wR="101600" stAng="0" swAng="-5400000"/>
                <a:lnTo>
                  <a:pt x="101600" y="50800"/>
                </a:lnTo>
                <a:arcTo hR="50800" wR="101600" stAng="16200000" swAng="-5400000"/>
                <a:close/>
              </a:path>
            </a:pathLst>
          </a:custGeom>
          <a:solidFill>
            <a:srgbClr val="1B5E20"/>
          </a:solidFill>
          <a:ln/>
        </p:spPr>
      </p:sp>
      <p:sp>
        <p:nvSpPr>
          <p:cNvPr id="6" name="Text 4"/>
          <p:cNvSpPr/>
          <p:nvPr/>
        </p:nvSpPr>
        <p:spPr>
          <a:xfrm>
            <a:off x="1016000" y="2077721"/>
            <a:ext cx="1204039" cy="264160"/>
          </a:xfrm>
          <a:custGeom>
            <a:avLst/>
            <a:gdLst/>
            <a:ahLst/>
            <a:cxnLst/>
            <a:rect l="l" t="t" r="r" b="b"/>
            <a:pathLst>
              <a:path w="1204039" h="264160">
                <a:moveTo>
                  <a:pt x="127000" y="0"/>
                </a:moveTo>
                <a:lnTo>
                  <a:pt x="1077039" y="0"/>
                </a:lnTo>
                <a:arcTo hR="127000" wR="127000" stAng="16200000" swAng="5400000"/>
                <a:lnTo>
                  <a:pt x="1204039" y="137160"/>
                </a:lnTo>
                <a:arcTo hR="127000" wR="127000" stAng="0" swAng="5400000"/>
                <a:lnTo>
                  <a:pt x="127000" y="264160"/>
                </a:lnTo>
                <a:arcTo hR="127000" wR="127000" stAng="5400000" swAng="5400000"/>
                <a:lnTo>
                  <a:pt x="0" y="127000"/>
                </a:lnTo>
                <a:arcTo hR="127000" wR="127000" stAng="10800000" swAng="5400000"/>
                <a:close/>
              </a:path>
            </a:pathLst>
          </a:custGeom>
          <a:solidFill>
            <a:srgbClr val="E8F5E9"/>
          </a:solidFill>
          <a:ln/>
        </p:spPr>
        <p:txBody>
          <a:bodyPr wrap="none" lIns="0" tIns="0" rIns="0" bIns="0" rtlCol="0" anchor="ctr">
            <a:normAutofit/>
          </a:bodyPr>
          <a:lstStyle/>
          <a:p>
            <a:pPr algn="ctr" indent="0" marL="0">
              <a:lnSpc>
                <a:spcPts val="1680"/>
              </a:lnSpc>
              <a:buNone/>
            </a:pPr>
            <a:r>
              <a:rPr lang="en-US" sz="1200" b="1" dirty="0">
                <a:solidFill>
                  <a:srgbClr val="1B5E20"/>
                </a:solidFill>
                <a:latin typeface="Roboto" pitchFamily="34" charset="0"/>
                <a:ea typeface="Roboto" pitchFamily="34" charset="-122"/>
                <a:cs typeface="Roboto" pitchFamily="34" charset="-120"/>
              </a:rPr>
              <a:t>Next 3 months</a:t>
            </a:r>
            <a:endParaRPr lang="en-US" sz="1200" dirty="0"/>
          </a:p>
        </p:txBody>
      </p:sp>
      <p:sp>
        <p:nvSpPr>
          <p:cNvPr id="7" name="Text 5"/>
          <p:cNvSpPr/>
          <p:nvPr/>
        </p:nvSpPr>
        <p:spPr>
          <a:xfrm>
            <a:off x="1016000" y="2443479"/>
            <a:ext cx="31045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1F1F"/>
                </a:solidFill>
                <a:latin typeface="Roboto" pitchFamily="34" charset="0"/>
                <a:ea typeface="Roboto" pitchFamily="34" charset="-122"/>
                <a:cs typeface="Roboto" pitchFamily="34" charset="-120"/>
              </a:rPr>
              <a:t>Pilot</a:t>
            </a:r>
            <a:endParaRPr lang="en-US" sz="2000" dirty="0"/>
          </a:p>
        </p:txBody>
      </p:sp>
      <p:sp>
        <p:nvSpPr>
          <p:cNvPr id="8" name="Text 6"/>
          <p:cNvSpPr/>
          <p:nvPr/>
        </p:nvSpPr>
        <p:spPr>
          <a:xfrm>
            <a:off x="1120394" y="2849879"/>
            <a:ext cx="2992516" cy="1874520"/>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Pilot with one legal aid clinic in Kampala</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Student pilots through GDG UTAMU and the UTAMU Innovation Club</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Advocates review answers for accuracy</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Add more laws, such as the Succession Act and the Children Act</a:t>
            </a:r>
            <a:endParaRPr lang="en-US" sz="1300" dirty="0"/>
          </a:p>
        </p:txBody>
      </p:sp>
      <p:sp>
        <p:nvSpPr>
          <p:cNvPr id="9" name="Shape 7"/>
          <p:cNvSpPr/>
          <p:nvPr/>
        </p:nvSpPr>
        <p:spPr>
          <a:xfrm>
            <a:off x="4385707" y="1823721"/>
            <a:ext cx="3420586" cy="3078480"/>
          </a:xfrm>
          <a:prstGeom prst="roundRect">
            <a:avLst>
              <a:gd name="adj" fmla="val 3300"/>
            </a:avLst>
          </a:prstGeom>
          <a:solidFill>
            <a:srgbClr val="FFFFFF"/>
          </a:solidFill>
          <a:ln/>
        </p:spPr>
      </p:sp>
      <p:sp>
        <p:nvSpPr>
          <p:cNvPr id="10" name="Shape 8"/>
          <p:cNvSpPr/>
          <p:nvPr/>
        </p:nvSpPr>
        <p:spPr>
          <a:xfrm>
            <a:off x="4385707" y="1823721"/>
            <a:ext cx="3420586" cy="3078480"/>
          </a:xfrm>
          <a:custGeom>
            <a:avLst/>
            <a:gdLst/>
            <a:ahLst/>
            <a:cxnLst/>
            <a:rect l="l" t="t" r="r" b="b"/>
            <a:pathLst>
              <a:path w="3420586" h="3078480">
                <a:moveTo>
                  <a:pt x="0" y="101600"/>
                </a:moveTo>
                <a:lnTo>
                  <a:pt x="0" y="101600"/>
                </a:lnTo>
                <a:arcTo hR="101600" wR="101600" stAng="10800000" swAng="5400000"/>
                <a:lnTo>
                  <a:pt x="3318986" y="0"/>
                </a:lnTo>
                <a:arcTo hR="101600" wR="101600" stAng="16200000" swAng="5400000"/>
                <a:lnTo>
                  <a:pt x="3420586" y="101600"/>
                </a:lnTo>
                <a:arcTo hR="50800" wR="101600" stAng="0" swAng="-5400000"/>
                <a:lnTo>
                  <a:pt x="101600" y="50800"/>
                </a:lnTo>
                <a:arcTo hR="50800" wR="101600" stAng="16200000" swAng="-5400000"/>
                <a:close/>
              </a:path>
            </a:pathLst>
          </a:custGeom>
          <a:solidFill>
            <a:srgbClr val="F9A825"/>
          </a:solidFill>
          <a:ln/>
        </p:spPr>
      </p:sp>
      <p:sp>
        <p:nvSpPr>
          <p:cNvPr id="11" name="Text 9"/>
          <p:cNvSpPr/>
          <p:nvPr/>
        </p:nvSpPr>
        <p:spPr>
          <a:xfrm>
            <a:off x="4588907" y="2077721"/>
            <a:ext cx="1233408" cy="264160"/>
          </a:xfrm>
          <a:custGeom>
            <a:avLst/>
            <a:gdLst/>
            <a:ahLst/>
            <a:cxnLst/>
            <a:rect l="l" t="t" r="r" b="b"/>
            <a:pathLst>
              <a:path w="1233408" h="264160">
                <a:moveTo>
                  <a:pt x="127000" y="0"/>
                </a:moveTo>
                <a:lnTo>
                  <a:pt x="1106408" y="0"/>
                </a:lnTo>
                <a:arcTo hR="127000" wR="127000" stAng="16200000" swAng="5400000"/>
                <a:lnTo>
                  <a:pt x="1233408" y="137160"/>
                </a:lnTo>
                <a:arcTo hR="127000" wR="127000" stAng="0" swAng="5400000"/>
                <a:lnTo>
                  <a:pt x="127000" y="264160"/>
                </a:lnTo>
                <a:arcTo hR="127000" wR="127000" stAng="5400000" swAng="5400000"/>
                <a:lnTo>
                  <a:pt x="0" y="127000"/>
                </a:lnTo>
                <a:arcTo hR="127000" wR="127000" stAng="10800000" swAng="5400000"/>
                <a:close/>
              </a:path>
            </a:pathLst>
          </a:custGeom>
          <a:solidFill>
            <a:srgbClr val="FFF8E1"/>
          </a:solidFill>
          <a:ln/>
        </p:spPr>
        <p:txBody>
          <a:bodyPr wrap="none" lIns="0" tIns="0" rIns="0" bIns="0" rtlCol="0" anchor="ctr">
            <a:normAutofit/>
          </a:bodyPr>
          <a:lstStyle/>
          <a:p>
            <a:pPr algn="ctr" indent="0" marL="0">
              <a:lnSpc>
                <a:spcPts val="1680"/>
              </a:lnSpc>
              <a:buNone/>
            </a:pPr>
            <a:r>
              <a:rPr lang="en-US" sz="1200" b="1" dirty="0">
                <a:solidFill>
                  <a:srgbClr val="7A4F00"/>
                </a:solidFill>
                <a:latin typeface="Roboto" pitchFamily="34" charset="0"/>
                <a:ea typeface="Roboto" pitchFamily="34" charset="-122"/>
                <a:cs typeface="Roboto" pitchFamily="34" charset="-120"/>
              </a:rPr>
              <a:t>3 to 12 months</a:t>
            </a:r>
            <a:endParaRPr lang="en-US" sz="1200" dirty="0"/>
          </a:p>
        </p:txBody>
      </p:sp>
      <p:sp>
        <p:nvSpPr>
          <p:cNvPr id="12" name="Text 10"/>
          <p:cNvSpPr/>
          <p:nvPr/>
        </p:nvSpPr>
        <p:spPr>
          <a:xfrm>
            <a:off x="4588907" y="2443479"/>
            <a:ext cx="31046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1F1F"/>
                </a:solidFill>
                <a:latin typeface="Roboto" pitchFamily="34" charset="0"/>
                <a:ea typeface="Roboto" pitchFamily="34" charset="-122"/>
                <a:cs typeface="Roboto" pitchFamily="34" charset="-120"/>
              </a:rPr>
              <a:t>Reach</a:t>
            </a:r>
            <a:endParaRPr lang="en-US" sz="2000" dirty="0"/>
          </a:p>
        </p:txBody>
      </p:sp>
      <p:sp>
        <p:nvSpPr>
          <p:cNvPr id="13" name="Text 11"/>
          <p:cNvSpPr/>
          <p:nvPr/>
        </p:nvSpPr>
        <p:spPr>
          <a:xfrm>
            <a:off x="4693301" y="2849879"/>
            <a:ext cx="2992598" cy="1643380"/>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WhatsApp access, used by 9.2 million Ugandans</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More Ugandan languages through Sunbird AI</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Proof of filing on Stellar for Access to Information requests</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First paying partners</a:t>
            </a:r>
            <a:endParaRPr lang="en-US" sz="1300" dirty="0"/>
          </a:p>
        </p:txBody>
      </p:sp>
      <p:sp>
        <p:nvSpPr>
          <p:cNvPr id="14" name="Shape 12"/>
          <p:cNvSpPr/>
          <p:nvPr/>
        </p:nvSpPr>
        <p:spPr>
          <a:xfrm>
            <a:off x="7958693" y="1823721"/>
            <a:ext cx="3420507" cy="3078480"/>
          </a:xfrm>
          <a:prstGeom prst="roundRect">
            <a:avLst>
              <a:gd name="adj" fmla="val 3300"/>
            </a:avLst>
          </a:prstGeom>
          <a:solidFill>
            <a:srgbClr val="FFFFFF"/>
          </a:solidFill>
          <a:ln/>
        </p:spPr>
      </p:sp>
      <p:sp>
        <p:nvSpPr>
          <p:cNvPr id="15" name="Shape 13"/>
          <p:cNvSpPr/>
          <p:nvPr/>
        </p:nvSpPr>
        <p:spPr>
          <a:xfrm>
            <a:off x="7958693" y="1823721"/>
            <a:ext cx="3420507" cy="3078480"/>
          </a:xfrm>
          <a:custGeom>
            <a:avLst/>
            <a:gdLst/>
            <a:ahLst/>
            <a:cxnLst/>
            <a:rect l="l" t="t" r="r" b="b"/>
            <a:pathLst>
              <a:path w="3420507" h="3078480">
                <a:moveTo>
                  <a:pt x="0" y="101600"/>
                </a:moveTo>
                <a:lnTo>
                  <a:pt x="0" y="101600"/>
                </a:lnTo>
                <a:arcTo hR="101600" wR="101600" stAng="10800000" swAng="5400000"/>
                <a:lnTo>
                  <a:pt x="3318907" y="0"/>
                </a:lnTo>
                <a:arcTo hR="101600" wR="101600" stAng="16200000" swAng="5400000"/>
                <a:lnTo>
                  <a:pt x="3420507" y="101600"/>
                </a:lnTo>
                <a:arcTo hR="50800" wR="101600" stAng="0" swAng="-5400000"/>
                <a:lnTo>
                  <a:pt x="101600" y="50800"/>
                </a:lnTo>
                <a:arcTo hR="50800" wR="101600" stAng="16200000" swAng="-5400000"/>
                <a:close/>
              </a:path>
            </a:pathLst>
          </a:custGeom>
          <a:solidFill>
            <a:srgbClr val="1F1F1F"/>
          </a:solidFill>
          <a:ln/>
        </p:spPr>
      </p:sp>
      <p:sp>
        <p:nvSpPr>
          <p:cNvPr id="16" name="Text 14"/>
          <p:cNvSpPr/>
          <p:nvPr/>
        </p:nvSpPr>
        <p:spPr>
          <a:xfrm>
            <a:off x="8161893" y="2077721"/>
            <a:ext cx="1466215" cy="264160"/>
          </a:xfrm>
          <a:custGeom>
            <a:avLst/>
            <a:gdLst/>
            <a:ahLst/>
            <a:cxnLst/>
            <a:rect l="l" t="t" r="r" b="b"/>
            <a:pathLst>
              <a:path w="1466215" h="264160">
                <a:moveTo>
                  <a:pt x="127000" y="0"/>
                </a:moveTo>
                <a:lnTo>
                  <a:pt x="1339215" y="0"/>
                </a:lnTo>
                <a:arcTo hR="127000" wR="127000" stAng="16200000" swAng="5400000"/>
                <a:lnTo>
                  <a:pt x="1466215" y="137160"/>
                </a:lnTo>
                <a:arcTo hR="127000" wR="127000" stAng="0" swAng="5400000"/>
                <a:lnTo>
                  <a:pt x="127000" y="264160"/>
                </a:lnTo>
                <a:arcTo hR="127000" wR="127000" stAng="5400000" swAng="5400000"/>
                <a:lnTo>
                  <a:pt x="0" y="127000"/>
                </a:lnTo>
                <a:arcTo hR="127000" wR="127000" stAng="10800000" swAng="5400000"/>
                <a:close/>
              </a:path>
            </a:pathLst>
          </a:custGeom>
          <a:solidFill>
            <a:srgbClr val="ECEFF1"/>
          </a:solidFill>
          <a:ln/>
        </p:spPr>
        <p:txBody>
          <a:bodyPr wrap="none" lIns="0" tIns="0" rIns="0" bIns="0" rtlCol="0" anchor="ctr">
            <a:normAutofit/>
          </a:bodyPr>
          <a:lstStyle/>
          <a:p>
            <a:pPr algn="ctr" indent="0" marL="0">
              <a:lnSpc>
                <a:spcPts val="1680"/>
              </a:lnSpc>
              <a:buNone/>
            </a:pPr>
            <a:r>
              <a:rPr lang="en-US" sz="1200" b="1" dirty="0">
                <a:solidFill>
                  <a:srgbClr val="1F1F1F"/>
                </a:solidFill>
                <a:latin typeface="Roboto" pitchFamily="34" charset="0"/>
                <a:ea typeface="Roboto" pitchFamily="34" charset="-122"/>
                <a:cs typeface="Roboto" pitchFamily="34" charset="-120"/>
              </a:rPr>
              <a:t>Year 2 and beyond</a:t>
            </a:r>
            <a:endParaRPr lang="en-US" sz="1200" dirty="0"/>
          </a:p>
        </p:txBody>
      </p:sp>
      <p:sp>
        <p:nvSpPr>
          <p:cNvPr id="17" name="Text 15"/>
          <p:cNvSpPr/>
          <p:nvPr/>
        </p:nvSpPr>
        <p:spPr>
          <a:xfrm>
            <a:off x="8161893" y="2443479"/>
            <a:ext cx="31045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1F1F"/>
                </a:solidFill>
                <a:latin typeface="Roboto" pitchFamily="34" charset="0"/>
                <a:ea typeface="Roboto" pitchFamily="34" charset="-122"/>
                <a:cs typeface="Roboto" pitchFamily="34" charset="-120"/>
              </a:rPr>
              <a:t>Scale</a:t>
            </a:r>
            <a:endParaRPr lang="en-US" sz="2000" dirty="0"/>
          </a:p>
        </p:txBody>
      </p:sp>
      <p:sp>
        <p:nvSpPr>
          <p:cNvPr id="18" name="Text 16"/>
          <p:cNvSpPr/>
          <p:nvPr/>
        </p:nvSpPr>
        <p:spPr>
          <a:xfrm>
            <a:off x="8266287" y="2849879"/>
            <a:ext cx="2992516" cy="1181100"/>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Kenya and Tanzania, in Swahili</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Offline mode on low-cost phones with on-device Gemma</a:t>
            </a:r>
            <a:endParaRPr lang="en-US" sz="1300" dirty="0"/>
          </a:p>
          <a:p>
            <a:pPr algn="l" marL="149606" indent="-149606">
              <a:lnSpc>
                <a:spcPts val="1820"/>
              </a:lnSpc>
              <a:buSzPct val="100000"/>
              <a:buChar char="•"/>
            </a:pPr>
            <a:r>
              <a:rPr lang="en-US" sz="1300" dirty="0">
                <a:solidFill>
                  <a:srgbClr val="1F1F1F"/>
                </a:solidFill>
                <a:latin typeface="Roboto" pitchFamily="34" charset="0"/>
                <a:ea typeface="Roboto" pitchFamily="34" charset="-122"/>
                <a:cs typeface="Roboto" pitchFamily="34" charset="-120"/>
              </a:rPr>
              <a:t>Work with government legal awareness programmes</a:t>
            </a:r>
            <a:endParaRPr lang="en-US" sz="1300" dirty="0"/>
          </a:p>
        </p:txBody>
      </p:sp>
      <p:sp>
        <p:nvSpPr>
          <p:cNvPr id="19" name="Text 17"/>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Roboto" pitchFamily="34" charset="0"/>
                <a:ea typeface="Roboto" pitchFamily="34" charset="-122"/>
                <a:cs typeface="Roboto" pitchFamily="34" charset="-120"/>
              </a:rPr>
              <a:t>WhatsApp users: UCC Q2 2025 market report via PC Tech Magazine</a:t>
            </a:r>
            <a:endParaRPr lang="en-US" sz="1200" dirty="0"/>
          </a:p>
        </p:txBody>
      </p:sp>
      <p:sp>
        <p:nvSpPr>
          <p:cNvPr id="20" name="Text 18"/>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Roboto" pitchFamily="34" charset="0"/>
                <a:ea typeface="Roboto" pitchFamily="34" charset="-122"/>
                <a:cs typeface="Robo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5E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D54F"/>
                </a:solidFill>
                <a:latin typeface="Roboto" pitchFamily="34" charset="0"/>
                <a:ea typeface="Roboto" pitchFamily="34" charset="-122"/>
                <a:cs typeface="Roboto" pitchFamily="34" charset="-120"/>
              </a:rPr>
              <a:t>TEAM AND ASK</a:t>
            </a:r>
            <a:endParaRPr lang="en-US" sz="1200" dirty="0"/>
          </a:p>
        </p:txBody>
      </p:sp>
      <p:sp>
        <p:nvSpPr>
          <p:cNvPr id="3" name="Text 1"/>
          <p:cNvSpPr/>
          <p:nvPr>
            <p:ph type="title"/>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8F9FA"/>
                </a:solidFill>
                <a:latin typeface="Roboto" pitchFamily="34" charset="0"/>
                <a:ea typeface="Roboto" pitchFamily="34" charset="-122"/>
                <a:cs typeface="Roboto" pitchFamily="34" charset="-120"/>
              </a:rPr>
              <a:t>Help us put the law in every pocket</a:t>
            </a:r>
            <a:endParaRPr lang="en-US" sz="3200" dirty="0"/>
          </a:p>
        </p:txBody>
      </p:sp>
      <p:sp>
        <p:nvSpPr>
          <p:cNvPr id="4" name="Shape 2"/>
          <p:cNvSpPr/>
          <p:nvPr/>
        </p:nvSpPr>
        <p:spPr>
          <a:xfrm>
            <a:off x="812800" y="1823721"/>
            <a:ext cx="5181600" cy="2406650"/>
          </a:xfrm>
          <a:prstGeom prst="roundRect">
            <a:avLst>
              <a:gd name="adj" fmla="val 4222"/>
            </a:avLst>
          </a:prstGeom>
          <a:solidFill>
            <a:srgbClr val="2E7D32"/>
          </a:solidFill>
          <a:ln/>
        </p:spPr>
      </p:sp>
      <p:sp>
        <p:nvSpPr>
          <p:cNvPr id="5" name="Text 3"/>
          <p:cNvSpPr/>
          <p:nvPr/>
        </p:nvSpPr>
        <p:spPr>
          <a:xfrm>
            <a:off x="1041400" y="2052321"/>
            <a:ext cx="486613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54F"/>
                </a:solidFill>
                <a:latin typeface="Roboto" pitchFamily="34" charset="0"/>
                <a:ea typeface="Roboto" pitchFamily="34" charset="-122"/>
                <a:cs typeface="Roboto" pitchFamily="34" charset="-120"/>
              </a:rPr>
              <a:t>THE TEAM</a:t>
            </a:r>
            <a:endParaRPr lang="en-US" sz="1200" dirty="0"/>
          </a:p>
        </p:txBody>
      </p:sp>
      <p:sp>
        <p:nvSpPr>
          <p:cNvPr id="6" name="Text 4"/>
          <p:cNvSpPr/>
          <p:nvPr/>
        </p:nvSpPr>
        <p:spPr>
          <a:xfrm>
            <a:off x="1041400" y="2354579"/>
            <a:ext cx="48661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8F9FA"/>
                </a:solidFill>
                <a:latin typeface="Roboto" pitchFamily="34" charset="0"/>
                <a:ea typeface="Roboto" pitchFamily="34" charset="-122"/>
                <a:cs typeface="Roboto" pitchFamily="34" charset="-120"/>
              </a:rPr>
              <a:t>Nuwahereza Peter</a:t>
            </a:r>
            <a:endParaRPr lang="en-US" sz="2000" dirty="0"/>
          </a:p>
        </p:txBody>
      </p:sp>
      <p:sp>
        <p:nvSpPr>
          <p:cNvPr id="7" name="Text 5"/>
          <p:cNvSpPr/>
          <p:nvPr/>
        </p:nvSpPr>
        <p:spPr>
          <a:xfrm>
            <a:off x="1041400" y="2748279"/>
            <a:ext cx="486613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8F5E9"/>
                </a:solidFill>
                <a:latin typeface="Roboto" pitchFamily="34" charset="0"/>
                <a:ea typeface="Roboto" pitchFamily="34" charset="-122"/>
                <a:cs typeface="Roboto" pitchFamily="34" charset="-120"/>
              </a:rPr>
              <a:t>Founder and lead developer, Softcodes Ltd</a:t>
            </a:r>
            <a:endParaRPr lang="en-US" sz="1400" dirty="0"/>
          </a:p>
        </p:txBody>
      </p:sp>
      <p:sp>
        <p:nvSpPr>
          <p:cNvPr id="8" name="Text 6"/>
          <p:cNvSpPr/>
          <p:nvPr/>
        </p:nvSpPr>
        <p:spPr>
          <a:xfrm>
            <a:off x="1145794" y="3077214"/>
            <a:ext cx="4754118" cy="949960"/>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F8F9FA"/>
                </a:solidFill>
                <a:latin typeface="Roboto" pitchFamily="34" charset="0"/>
                <a:ea typeface="Roboto" pitchFamily="34" charset="-122"/>
                <a:cs typeface="Roboto" pitchFamily="34" charset="-120"/>
              </a:rPr>
              <a:t>Final-year BSc Software Engineering, UTAMU</a:t>
            </a:r>
            <a:endParaRPr lang="en-US" sz="1300" dirty="0"/>
          </a:p>
          <a:p>
            <a:pPr algn="l" marL="149606" indent="-149606">
              <a:lnSpc>
                <a:spcPts val="1820"/>
              </a:lnSpc>
              <a:buSzPct val="100000"/>
              <a:buChar char="•"/>
            </a:pPr>
            <a:r>
              <a:rPr lang="en-US" sz="1300" dirty="0">
                <a:solidFill>
                  <a:srgbClr val="F8F9FA"/>
                </a:solidFill>
                <a:latin typeface="Roboto" pitchFamily="34" charset="0"/>
                <a:ea typeface="Roboto" pitchFamily="34" charset="-122"/>
                <a:cs typeface="Roboto" pitchFamily="34" charset="-120"/>
              </a:rPr>
              <a:t>Technical Lead, GDG UTAMU</a:t>
            </a:r>
            <a:endParaRPr lang="en-US" sz="1300" dirty="0"/>
          </a:p>
          <a:p>
            <a:pPr algn="l" marL="149606" indent="-149606">
              <a:lnSpc>
                <a:spcPts val="1820"/>
              </a:lnSpc>
              <a:buSzPct val="100000"/>
              <a:buChar char="•"/>
            </a:pPr>
            <a:r>
              <a:rPr lang="en-US" sz="1300" dirty="0">
                <a:solidFill>
                  <a:srgbClr val="F8F9FA"/>
                </a:solidFill>
                <a:latin typeface="Roboto" pitchFamily="34" charset="0"/>
                <a:ea typeface="Roboto" pitchFamily="34" charset="-122"/>
                <a:cs typeface="Roboto" pitchFamily="34" charset="-120"/>
              </a:rPr>
              <a:t>Vice President, UTAMU Innovation Club</a:t>
            </a:r>
            <a:endParaRPr lang="en-US" sz="1300" dirty="0"/>
          </a:p>
          <a:p>
            <a:pPr algn="l" marL="149606" indent="-149606">
              <a:lnSpc>
                <a:spcPts val="1820"/>
              </a:lnSpc>
              <a:buSzPct val="100000"/>
              <a:buChar char="•"/>
            </a:pPr>
            <a:r>
              <a:rPr lang="en-US" sz="1300" dirty="0">
                <a:solidFill>
                  <a:srgbClr val="F8F9FA"/>
                </a:solidFill>
                <a:latin typeface="Roboto" pitchFamily="34" charset="0"/>
                <a:ea typeface="Roboto" pitchFamily="34" charset="-122"/>
                <a:cs typeface="Roboto" pitchFamily="34" charset="-120"/>
              </a:rPr>
              <a:t>Builds AI and blockchain tools for governance in Uganda</a:t>
            </a:r>
            <a:endParaRPr lang="en-US" sz="1300" dirty="0"/>
          </a:p>
        </p:txBody>
      </p:sp>
      <p:sp>
        <p:nvSpPr>
          <p:cNvPr id="9" name="Shape 7"/>
          <p:cNvSpPr/>
          <p:nvPr/>
        </p:nvSpPr>
        <p:spPr>
          <a:xfrm>
            <a:off x="6197600" y="1823721"/>
            <a:ext cx="5181600" cy="2406650"/>
          </a:xfrm>
          <a:prstGeom prst="roundRect">
            <a:avLst>
              <a:gd name="adj" fmla="val 4222"/>
            </a:avLst>
          </a:prstGeom>
          <a:solidFill>
            <a:srgbClr val="2E7D32"/>
          </a:solidFill>
          <a:ln/>
        </p:spPr>
      </p:sp>
      <p:sp>
        <p:nvSpPr>
          <p:cNvPr id="10" name="Text 8"/>
          <p:cNvSpPr/>
          <p:nvPr/>
        </p:nvSpPr>
        <p:spPr>
          <a:xfrm>
            <a:off x="6426200" y="2052321"/>
            <a:ext cx="486613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54F"/>
                </a:solidFill>
                <a:latin typeface="Roboto" pitchFamily="34" charset="0"/>
                <a:ea typeface="Roboto" pitchFamily="34" charset="-122"/>
                <a:cs typeface="Roboto" pitchFamily="34" charset="-120"/>
              </a:rPr>
              <a:t>WHAT WE NEED</a:t>
            </a:r>
            <a:endParaRPr lang="en-US" sz="1200" dirty="0"/>
          </a:p>
        </p:txBody>
      </p:sp>
      <p:pic>
        <p:nvPicPr>
          <p:cNvPr id="11" name="Image 0" descr="Users">    </p:cNvPr>
          <p:cNvPicPr>
            <a:picLocks noChangeAspect="1"/>
          </p:cNvPicPr>
          <p:nvPr/>
        </p:nvPicPr>
        <p:blipFill>
          <a:blip r:embed="rId1"/>
          <a:srcRect l="0" r="0" t="0" b="0"/>
          <a:stretch/>
        </p:blipFill>
        <p:spPr>
          <a:xfrm>
            <a:off x="6426200" y="2418079"/>
            <a:ext cx="254000" cy="254000"/>
          </a:xfrm>
          <a:prstGeom prst="rect">
            <a:avLst/>
          </a:prstGeom>
        </p:spPr>
      </p:pic>
      <p:sp>
        <p:nvSpPr>
          <p:cNvPr id="12" name="Text 9"/>
          <p:cNvSpPr/>
          <p:nvPr/>
        </p:nvSpPr>
        <p:spPr>
          <a:xfrm>
            <a:off x="6781800" y="2418079"/>
            <a:ext cx="45974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9FA"/>
                </a:solidFill>
                <a:latin typeface="Roboto" pitchFamily="34" charset="0"/>
                <a:ea typeface="Roboto" pitchFamily="34" charset="-122"/>
                <a:cs typeface="Roboto" pitchFamily="34" charset="-120"/>
              </a:rPr>
              <a:t>Pilot partners: legal aid clinics and NGOs in Kampala</a:t>
            </a:r>
            <a:endParaRPr lang="en-US" sz="1400" dirty="0"/>
          </a:p>
        </p:txBody>
      </p:sp>
      <p:pic>
        <p:nvPicPr>
          <p:cNvPr id="13" name="Image 1" descr="Verified">    </p:cNvPr>
          <p:cNvPicPr>
            <a:picLocks noChangeAspect="1"/>
          </p:cNvPicPr>
          <p:nvPr/>
        </p:nvPicPr>
        <p:blipFill>
          <a:blip r:embed="rId2"/>
          <a:srcRect l="0" r="0" t="0" b="0"/>
          <a:stretch/>
        </p:blipFill>
        <p:spPr>
          <a:xfrm>
            <a:off x="6426200" y="2824479"/>
            <a:ext cx="254000" cy="254000"/>
          </a:xfrm>
          <a:prstGeom prst="rect">
            <a:avLst/>
          </a:prstGeom>
        </p:spPr>
      </p:pic>
      <p:sp>
        <p:nvSpPr>
          <p:cNvPr id="14" name="Text 10"/>
          <p:cNvSpPr/>
          <p:nvPr/>
        </p:nvSpPr>
        <p:spPr>
          <a:xfrm>
            <a:off x="6781800" y="2824479"/>
            <a:ext cx="418747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9FA"/>
                </a:solidFill>
                <a:latin typeface="Roboto" pitchFamily="34" charset="0"/>
                <a:ea typeface="Roboto" pitchFamily="34" charset="-122"/>
                <a:cs typeface="Roboto" pitchFamily="34" charset="-120"/>
              </a:rPr>
              <a:t>Advocates to review our answers and letters</a:t>
            </a:r>
            <a:endParaRPr lang="en-US" sz="1400" dirty="0"/>
          </a:p>
        </p:txBody>
      </p:sp>
      <p:pic>
        <p:nvPicPr>
          <p:cNvPr id="15" name="Image 2" descr="Lightning">    </p:cNvPr>
          <p:cNvPicPr>
            <a:picLocks noChangeAspect="1"/>
          </p:cNvPicPr>
          <p:nvPr/>
        </p:nvPicPr>
        <p:blipFill>
          <a:blip r:embed="rId3"/>
          <a:srcRect l="0" r="0" t="0" b="0"/>
          <a:stretch/>
        </p:blipFill>
        <p:spPr>
          <a:xfrm>
            <a:off x="6426200" y="3230879"/>
            <a:ext cx="254000" cy="254000"/>
          </a:xfrm>
          <a:prstGeom prst="rect">
            <a:avLst/>
          </a:prstGeom>
        </p:spPr>
      </p:pic>
      <p:sp>
        <p:nvSpPr>
          <p:cNvPr id="16" name="Text 11"/>
          <p:cNvSpPr/>
          <p:nvPr/>
        </p:nvSpPr>
        <p:spPr>
          <a:xfrm>
            <a:off x="6781800" y="3230879"/>
            <a:ext cx="457409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8F9FA"/>
                </a:solidFill>
                <a:latin typeface="Roboto" pitchFamily="34" charset="0"/>
                <a:ea typeface="Roboto" pitchFamily="34" charset="-122"/>
                <a:cs typeface="Roboto" pitchFamily="34" charset="-120"/>
              </a:rPr>
              <a:t>Mentorship and funding for AI and hosting costs</a:t>
            </a:r>
            <a:endParaRPr lang="en-US" sz="1400" dirty="0"/>
          </a:p>
        </p:txBody>
      </p:sp>
      <p:sp>
        <p:nvSpPr>
          <p:cNvPr id="17" name="Text 12"/>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E6C9"/>
                </a:solidFill>
                <a:latin typeface="Roboto" pitchFamily="34" charset="0"/>
                <a:ea typeface="Roboto" pitchFamily="34" charset="-122"/>
                <a:cs typeface="Roboto" pitchFamily="34" charset="-120"/>
              </a:rPr>
              <a:t>nuwaherezapeter34@gmail.com · github.com/Nuwahereza-eng · Eddembe: know your rights, in your language</a:t>
            </a:r>
            <a:endParaRPr lang="en-US" sz="1200" dirty="0"/>
          </a:p>
        </p:txBody>
      </p:sp>
      <p:sp>
        <p:nvSpPr>
          <p:cNvPr id="18" name="Text 13"/>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8E6C9"/>
                </a:solidFill>
                <a:latin typeface="Roboto" pitchFamily="34" charset="0"/>
                <a:ea typeface="Roboto" pitchFamily="34" charset="-122"/>
                <a:cs typeface="Roboto" pitchFamily="34" charset="-120"/>
              </a:rPr>
              <a:t>12</a:t>
            </a:r>
            <a:endParaRPr lang="en-US" sz="1200" dirty="0"/>
          </a:p>
        </p:txBody>
      </p:sp>
    </p:spTree>
  </p:cSld>
  <p:clrMapOvr>
    <a:masterClrMapping/>
  </p:clrMapOvr>
</p:sld>
</file>

<file path=ppt/theme/theme1.xml><?xml version="1.0" encoding="utf-8"?>
<a:theme xmlns:a="http://schemas.openxmlformats.org/drawingml/2006/main" name="Eddembe Pitch Deck">
  <a:themeElements>
    <a:clrScheme name="Eddembe Pitch Deck">
      <a:dk1>
        <a:srgbClr val="1F1F1F"/>
      </a:dk1>
      <a:lt1>
        <a:srgbClr val="F8F9FA"/>
      </a:lt1>
      <a:dk2>
        <a:srgbClr val="555656"/>
      </a:dk2>
      <a:lt2>
        <a:srgbClr val="E2E3E4"/>
      </a:lt2>
      <a:accent1>
        <a:srgbClr val="1B5E20"/>
      </a:accent1>
      <a:accent2>
        <a:srgbClr val="FFD54F"/>
      </a:accent2>
      <a:accent3>
        <a:srgbClr val="2E7D32"/>
      </a:accent3>
      <a:accent4>
        <a:srgbClr val="B3261E"/>
      </a:accent4>
      <a:accent5>
        <a:srgbClr val="7A4F00"/>
      </a:accent5>
      <a:accent6>
        <a:srgbClr val="5F6368"/>
      </a:accent6>
      <a:hlink>
        <a:srgbClr val="0563C1"/>
      </a:hlink>
      <a:folHlink>
        <a:srgbClr val="954F72"/>
      </a:folHlink>
    </a:clrScheme>
    <a:fontScheme name="Eddembe Pitch Deck">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Eddembe Pitch Deck</dc:title>
  <dc:subject/>
  <dc:creator/>
  <cp:lastModifiedBy/>
  <cp:revision>1</cp:revision>
  <dcterms:created xsi:type="dcterms:W3CDTF">2026-10-16T13:35:48Z</dcterms:created>
  <dcterms:modified xsi:type="dcterms:W3CDTF">2026-10-16T13:35:48Z</dcterms:modified>
</cp:coreProperties>
</file>